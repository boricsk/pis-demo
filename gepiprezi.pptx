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ags/tag1.xml" ContentType="application/vnd.openxmlformats-officedocument.presentationml.tags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ags/tag2.xml" ContentType="application/vnd.openxmlformats-officedocument.presentationml.tags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tags/tag3.xml" ContentType="application/vnd.openxmlformats-officedocument.presentationml.tags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tags/tag4.xml" ContentType="application/vnd.openxmlformats-officedocument.presentationml.tags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tags/tag5.xml" ContentType="application/vnd.openxmlformats-officedocument.presentationml.tags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tags/tag6.xml" ContentType="application/vnd.openxmlformats-officedocument.presentationml.tags+xml"/>
  <Override PartName="/ppt/charts/chart9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tags/tag7.xml" ContentType="application/vnd.openxmlformats-officedocument.presentationml.tags+xml"/>
  <Override PartName="/ppt/charts/chart10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charts/chart11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tags/tag8.xml" ContentType="application/vnd.openxmlformats-officedocument.presentationml.tags+xml"/>
  <Override PartName="/ppt/charts/chart12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tags/tag9.xml" ContentType="application/vnd.openxmlformats-officedocument.presentationml.tags+xml"/>
  <Override PartName="/ppt/charts/chart13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rts/chart14.xml" ContentType="application/vnd.openxmlformats-officedocument.drawingml.chart+xml"/>
  <Override PartName="/ppt/charts/style14.xml" ContentType="application/vnd.ms-office.chartstyle+xml"/>
  <Override PartName="/ppt/charts/colors14.xml" ContentType="application/vnd.ms-office.chartcolorstyle+xml"/>
  <Override PartName="/ppt/tags/tag10.xml" ContentType="application/vnd.openxmlformats-officedocument.presentationml.tags+xml"/>
  <Override PartName="/ppt/charts/chart15.xml" ContentType="application/vnd.openxmlformats-officedocument.drawingml.chart+xml"/>
  <Override PartName="/ppt/charts/style15.xml" ContentType="application/vnd.ms-office.chartstyle+xml"/>
  <Override PartName="/ppt/charts/colors15.xml" ContentType="application/vnd.ms-office.chartcolorstyle+xml"/>
  <Override PartName="/ppt/charts/chart16.xml" ContentType="application/vnd.openxmlformats-officedocument.drawingml.chart+xml"/>
  <Override PartName="/ppt/charts/style16.xml" ContentType="application/vnd.ms-office.chartstyle+xml"/>
  <Override PartName="/ppt/charts/colors16.xml" ContentType="application/vnd.ms-office.chartcolorstyle+xml"/>
  <Override PartName="/ppt/charts/chart17.xml" ContentType="application/vnd.openxmlformats-officedocument.drawingml.chart+xml"/>
  <Override PartName="/ppt/charts/style17.xml" ContentType="application/vnd.ms-office.chartstyle+xml"/>
  <Override PartName="/ppt/charts/colors17.xml" ContentType="application/vnd.ms-office.chartcolorstyle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charts/chart20.xml" ContentType="application/vnd.openxmlformats-officedocument.drawingml.chart+xml"/>
  <Override PartName="/ppt/charts/style18.xml" ContentType="application/vnd.ms-office.chartstyle+xml"/>
  <Override PartName="/ppt/charts/colors18.xml" ContentType="application/vnd.ms-office.chartcolorstyle+xml"/>
  <Override PartName="/ppt/charts/chart21.xml" ContentType="application/vnd.openxmlformats-officedocument.drawingml.chart+xml"/>
  <Override PartName="/ppt/charts/style19.xml" ContentType="application/vnd.ms-office.chartstyle+xml"/>
  <Override PartName="/ppt/charts/colors19.xml" ContentType="application/vnd.ms-office.chartcolorstyle+xml"/>
  <Override PartName="/ppt/charts/chart2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7" r:id="rId2"/>
    <p:sldId id="288" r:id="rId3"/>
    <p:sldId id="297" r:id="rId4"/>
    <p:sldId id="290" r:id="rId5"/>
    <p:sldId id="299" r:id="rId6"/>
    <p:sldId id="291" r:id="rId7"/>
    <p:sldId id="300" r:id="rId8"/>
    <p:sldId id="292" r:id="rId9"/>
    <p:sldId id="301" r:id="rId10"/>
    <p:sldId id="302" r:id="rId11"/>
    <p:sldId id="303" r:id="rId12"/>
    <p:sldId id="305" r:id="rId13"/>
    <p:sldId id="304" r:id="rId14"/>
    <p:sldId id="293" r:id="rId15"/>
    <p:sldId id="294" r:id="rId16"/>
    <p:sldId id="295" r:id="rId17"/>
    <p:sldId id="296" r:id="rId18"/>
  </p:sldIdLst>
  <p:sldSz cx="12192000" cy="6858000"/>
  <p:notesSz cx="7099300" cy="10234613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Urbán Orsolya" initials="UO" lastIdx="1" clrIdx="0">
    <p:extLst>
      <p:ext uri="{19B8F6BF-5375-455C-9EA6-DF929625EA0E}">
        <p15:presenceInfo xmlns:p15="http://schemas.microsoft.com/office/powerpoint/2012/main" userId="S::urban.orsolya@sumi-electric.hu::e821e1ed-db11-4def-ad87-2adb87dc6ba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>
        <p:scale>
          <a:sx n="75" d="100"/>
          <a:sy n="75" d="100"/>
        </p:scale>
        <p:origin x="1950" y="8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https://sumielectrickft-my.sharepoint.com/personal/urban_orsolya_sumi-electric_hu/Documents/PR-10-43-03%20Key%20machine%20output%20follow_base_1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https://sumielectrickft-my.sharepoint.com/personal/urban_orsolya_sumi-electric_hu/Documents/PR-10-43-03%20Key%20machine%20output%20follow_base_1.xlsx" TargetMode="External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https://sumielectrickft-my.sharepoint.com/personal/urban_orsolya_sumi-electric_hu/Documents/PR-10-43-03%20Key%20machine%20output%20follow_base_1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sumielectrickft-my.sharepoint.com/personal/urban_orsolya_sumi-electric_hu/Documents/PR-10-43-03%20Key%20machine%20output%20follow_base_1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https://sumielectrickft-my.sharepoint.com/personal/urban_orsolya_sumi-electric_hu/Documents/PR-10-43-03%20Key%20machine%20output%20follow_base_1.xlsx" TargetMode="External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oleObject" Target="https://sumielectrickft-my.sharepoint.com/personal/urban_orsolya_sumi-electric_hu/Documents/PR-10-43-03%20Key%20machine%20output%20follow_base_1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oleObject" Target="https://sumielectrickft-my.sharepoint.com/personal/urban_orsolya_sumi-electric_hu/Documents/PR-10-43-03%20Key%20machine%20output%20follow_base_1.xlsx" TargetMode="External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oleObject" Target="https://sumielectrickft-my.sharepoint.com/personal/urban_orsolya_sumi-electric_hu/Documents/PR-10-43-03%20Key%20machine%20output%20follow_base_1.xlsx" TargetMode="External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oleObject" Target="https://sumielectrickft-my.sharepoint.com/personal/urban_orsolya_sumi-electric_hu/Documents/PR-10-43-03%20Key%20machine%20output%20follow_base_1.xlsx" TargetMode="External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oleObject" Target="https://sumielectrickft-my.sharepoint.com/personal/urban_orsolya_sumi-electric_hu/Documents/PR-10-43-03%20Key%20machine%20output%20follow_base_1.xlsx" TargetMode="External"/><Relationship Id="rId2" Type="http://schemas.microsoft.com/office/2011/relationships/chartColorStyle" Target="colors10.xml"/><Relationship Id="rId1" Type="http://schemas.microsoft.com/office/2011/relationships/chartStyle" Target="style10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oleObject" Target="https://sumielectrickft-my.sharepoint.com/personal/urban_orsolya_sumi-electric_hu/Documents/PR-10-43-03%20Key%20machine%20output%20follow_base_1.xlsx" TargetMode="External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oleObject" Target="https://sumielectrickft-my.sharepoint.com/personal/urban_orsolya_sumi-electric_hu/Documents/PR-10-43-03%20Key%20machine%20output%20follow_base_1.xlsx" TargetMode="External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oleObject" Target="https://sumielectrickft-my.sharepoint.com/personal/urban_orsolya_sumi-electric_hu/Documents/PR-10-43-03%20Key%20machine%20output%20follow_base_1.xlsx" TargetMode="External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oleObject" Target="https://sumielectrickft-my.sharepoint.com/personal/urban_orsolya_sumi-electric_hu/Documents/PR-10-43-03%20Key%20machine%20output%20follow_base_1.xlsx" TargetMode="External"/><Relationship Id="rId2" Type="http://schemas.microsoft.com/office/2011/relationships/chartColorStyle" Target="colors14.xml"/><Relationship Id="rId1" Type="http://schemas.microsoft.com/office/2011/relationships/chartStyle" Target="style14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oleObject" Target="https://sumielectrickft-my.sharepoint.com/personal/urban_orsolya_sumi-electric_hu/Documents/PR-10-43-03%20Key%20machine%20output%20follow_base_1.xlsx" TargetMode="External"/><Relationship Id="rId2" Type="http://schemas.microsoft.com/office/2011/relationships/chartColorStyle" Target="colors15.xml"/><Relationship Id="rId1" Type="http://schemas.microsoft.com/office/2011/relationships/chartStyle" Target="style15.xml"/></Relationships>
</file>

<file path=ppt/charts/_rels/chart16.xml.rels><?xml version="1.0" encoding="UTF-8" standalone="yes"?>
<Relationships xmlns="http://schemas.openxmlformats.org/package/2006/relationships"><Relationship Id="rId3" Type="http://schemas.openxmlformats.org/officeDocument/2006/relationships/oleObject" Target="https://sumielectrickft-my.sharepoint.com/personal/urban_orsolya_sumi-electric_hu/Documents/PR-10-43-03%20Key%20machine%20output%20follow_base_1.xlsx" TargetMode="External"/><Relationship Id="rId2" Type="http://schemas.microsoft.com/office/2011/relationships/chartColorStyle" Target="colors16.xml"/><Relationship Id="rId1" Type="http://schemas.microsoft.com/office/2011/relationships/chartStyle" Target="style16.xml"/></Relationships>
</file>

<file path=ppt/charts/_rels/chart17.xml.rels><?xml version="1.0" encoding="UTF-8" standalone="yes"?>
<Relationships xmlns="http://schemas.openxmlformats.org/package/2006/relationships"><Relationship Id="rId3" Type="http://schemas.openxmlformats.org/officeDocument/2006/relationships/oleObject" Target="https://sumielectrickft-my.sharepoint.com/personal/urban_orsolya_sumi-electric_hu/Documents/PR-10-43-03%20Key%20machine%20output%20follow_base_1.xlsx" TargetMode="External"/><Relationship Id="rId2" Type="http://schemas.microsoft.com/office/2011/relationships/chartColorStyle" Target="colors17.xml"/><Relationship Id="rId1" Type="http://schemas.microsoft.com/office/2011/relationships/chartStyle" Target="style17.xml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oleObject" Target="https://sumielectrickft-my.sharepoint.com/personal/urban_orsolya_sumi-electric_hu/Documents/PR-10-43-03%20Key%20machine%20output%20follow_base_1.xlsx" TargetMode="External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oleObject" Target="https://sumielectrickft-my.sharepoint.com/personal/urban_orsolya_sumi-electric_hu/Documents/PR-10-43-03%20Key%20machine%20output%20follow_base_1.xlsx" TargetMode="External"/></Relationships>
</file>

<file path=ppt/charts/_rels/chart20.xml.rels><?xml version="1.0" encoding="UTF-8" standalone="yes"?>
<Relationships xmlns="http://schemas.openxmlformats.org/package/2006/relationships"><Relationship Id="rId3" Type="http://schemas.openxmlformats.org/officeDocument/2006/relationships/oleObject" Target="https://sumielectrickft-my.sharepoint.com/personal/urban_orsolya_sumi-electric_hu/Documents/PR-10-43-03%20Key%20machine%20output%20follow_base_1.xlsx" TargetMode="External"/><Relationship Id="rId2" Type="http://schemas.microsoft.com/office/2011/relationships/chartColorStyle" Target="colors18.xml"/><Relationship Id="rId1" Type="http://schemas.microsoft.com/office/2011/relationships/chartStyle" Target="style18.xml"/></Relationships>
</file>

<file path=ppt/charts/_rels/chart21.xml.rels><?xml version="1.0" encoding="UTF-8" standalone="yes"?>
<Relationships xmlns="http://schemas.openxmlformats.org/package/2006/relationships"><Relationship Id="rId3" Type="http://schemas.openxmlformats.org/officeDocument/2006/relationships/oleObject" Target="https://sumielectrickft-my.sharepoint.com/personal/urban_orsolya_sumi-electric_hu/Documents/PR-10-43-03%20Key%20machine%20output%20follow_base_1.xlsx" TargetMode="External"/><Relationship Id="rId2" Type="http://schemas.microsoft.com/office/2011/relationships/chartColorStyle" Target="colors19.xml"/><Relationship Id="rId1" Type="http://schemas.microsoft.com/office/2011/relationships/chartStyle" Target="style19.xml"/></Relationships>
</file>

<file path=ppt/charts/_rels/chart22.xml.rels><?xml version="1.0" encoding="UTF-8" standalone="yes"?>
<Relationships xmlns="http://schemas.openxmlformats.org/package/2006/relationships"><Relationship Id="rId1" Type="http://schemas.openxmlformats.org/officeDocument/2006/relationships/oleObject" Target="file:///\\file\FFC_Production\FFC%20Factory\Prod_Plan\PYP%20Plan\PR-12-01-03_&#193;ll&#225;sid&#337;_regiszt&#225;l&#225;s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hu-HU"/>
              <a:t>AD AMI Hatékonyság / AD AMI</a:t>
            </a:r>
            <a:r>
              <a:rPr lang="hu-HU" baseline="0"/>
              <a:t> </a:t>
            </a:r>
            <a:r>
              <a:rPr lang="hu-HU"/>
              <a:t>Efficiency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u-HU"/>
        </a:p>
      </c:txPr>
    </c:title>
    <c:autoTitleDeleted val="0"/>
    <c:plotArea>
      <c:layout/>
      <c:barChart>
        <c:barDir val="col"/>
        <c:grouping val="clustered"/>
        <c:varyColors val="0"/>
        <c:ser>
          <c:idx val="2"/>
          <c:order val="2"/>
          <c:tx>
            <c:strRef>
              <c:f>ADAMI!$U$8</c:f>
              <c:strCache>
                <c:ptCount val="1"/>
                <c:pt idx="0">
                  <c:v>Hatékonyság / Efficiency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val>
            <c:numRef>
              <c:f>ADAMI!$U$9:$U$31</c:f>
              <c:numCache>
                <c:formatCode>0.00%</c:formatCode>
                <c:ptCount val="23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D3B-43B0-B27C-641A9EE483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71599336"/>
        <c:axId val="471596200"/>
      </c:barChart>
      <c:lineChart>
        <c:grouping val="standard"/>
        <c:varyColors val="0"/>
        <c:ser>
          <c:idx val="0"/>
          <c:order val="0"/>
          <c:tx>
            <c:strRef>
              <c:f>ADAMI!$S$8</c:f>
              <c:strCache>
                <c:ptCount val="1"/>
                <c:pt idx="0">
                  <c:v>Cél / Target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numRef>
              <c:f>ADAMI!$A$9:$A$31</c:f>
              <c:numCache>
                <c:formatCode>General</c:formatCode>
                <c:ptCount val="23"/>
                <c:pt idx="0">
                  <c:v>1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18</c:v>
                </c:pt>
                <c:pt idx="12">
                  <c:v>19</c:v>
                </c:pt>
                <c:pt idx="13">
                  <c:v>21</c:v>
                </c:pt>
                <c:pt idx="14">
                  <c:v>22</c:v>
                </c:pt>
                <c:pt idx="15">
                  <c:v>25</c:v>
                </c:pt>
                <c:pt idx="16">
                  <c:v>26</c:v>
                </c:pt>
                <c:pt idx="17">
                  <c:v>27</c:v>
                </c:pt>
                <c:pt idx="18">
                  <c:v>28</c:v>
                </c:pt>
                <c:pt idx="19">
                  <c:v>29</c:v>
                </c:pt>
              </c:numCache>
            </c:numRef>
          </c:cat>
          <c:val>
            <c:numRef>
              <c:f>ADAMI!$S$9:$S$31</c:f>
              <c:numCache>
                <c:formatCode>0.00%</c:formatCode>
                <c:ptCount val="23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D3B-43B0-B27C-641A9EE48341}"/>
            </c:ext>
          </c:extLst>
        </c:ser>
        <c:ser>
          <c:idx val="1"/>
          <c:order val="1"/>
          <c:tx>
            <c:strRef>
              <c:f>ADAMI!$T$8</c:f>
              <c:strCache>
                <c:ptCount val="1"/>
                <c:pt idx="0">
                  <c:v>Hatékonyság (kumulált) / Efficiency (cumulative)</c:v>
                </c:pt>
              </c:strCache>
            </c:strRef>
          </c:tx>
          <c:spPr>
            <a:ln w="28575" cap="rnd">
              <a:solidFill>
                <a:srgbClr val="FFC000"/>
              </a:solidFill>
              <a:round/>
            </a:ln>
            <a:effectLst/>
          </c:spPr>
          <c:marker>
            <c:symbol val="none"/>
          </c:marker>
          <c:cat>
            <c:numRef>
              <c:f>ADAMI!$A$9:$A$31</c:f>
              <c:numCache>
                <c:formatCode>General</c:formatCode>
                <c:ptCount val="23"/>
                <c:pt idx="0">
                  <c:v>1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18</c:v>
                </c:pt>
                <c:pt idx="12">
                  <c:v>19</c:v>
                </c:pt>
                <c:pt idx="13">
                  <c:v>21</c:v>
                </c:pt>
                <c:pt idx="14">
                  <c:v>22</c:v>
                </c:pt>
                <c:pt idx="15">
                  <c:v>25</c:v>
                </c:pt>
                <c:pt idx="16">
                  <c:v>26</c:v>
                </c:pt>
                <c:pt idx="17">
                  <c:v>27</c:v>
                </c:pt>
                <c:pt idx="18">
                  <c:v>28</c:v>
                </c:pt>
                <c:pt idx="19">
                  <c:v>29</c:v>
                </c:pt>
              </c:numCache>
            </c:numRef>
          </c:cat>
          <c:val>
            <c:numRef>
              <c:f>ADAMI!$T$9:$T$31</c:f>
              <c:numCache>
                <c:formatCode>0.00%</c:formatCode>
                <c:ptCount val="23"/>
                <c:pt idx="0">
                  <c:v>0</c:v>
                </c:pt>
                <c:pt idx="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D3B-43B0-B27C-641A9EE483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71599336"/>
        <c:axId val="471596200"/>
      </c:lineChart>
      <c:catAx>
        <c:axId val="471599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  <c:crossAx val="471596200"/>
        <c:crosses val="autoZero"/>
        <c:auto val="1"/>
        <c:lblAlgn val="ctr"/>
        <c:lblOffset val="100"/>
        <c:noMultiLvlLbl val="0"/>
      </c:catAx>
      <c:valAx>
        <c:axId val="4715962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  <c:crossAx val="4715993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u-H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2"/>
      </a:solidFill>
    </a:ln>
    <a:effectLst/>
  </c:spPr>
  <c:txPr>
    <a:bodyPr/>
    <a:lstStyle/>
    <a:p>
      <a:pPr>
        <a:defRPr/>
      </a:pPr>
      <a:endParaRPr lang="hu-HU"/>
    </a:p>
  </c:txPr>
  <c:externalData r:id="rId3">
    <c:autoUpdate val="1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hu-HU"/>
              <a:t>AD</a:t>
            </a:r>
            <a:r>
              <a:rPr lang="hu-HU" baseline="0"/>
              <a:t> AMI kimenet nyomonkövetés / </a:t>
            </a:r>
          </a:p>
          <a:p>
            <a:pPr>
              <a:defRPr/>
            </a:pPr>
            <a:r>
              <a:rPr lang="hu-HU"/>
              <a:t>AD AMI output</a:t>
            </a:r>
            <a:r>
              <a:rPr lang="hu-HU" baseline="0"/>
              <a:t> follow up</a:t>
            </a:r>
            <a:endParaRPr lang="hu-HU"/>
          </a:p>
        </c:rich>
      </c:tx>
      <c:layout>
        <c:manualLayout>
          <c:xMode val="edge"/>
          <c:yMode val="edge"/>
          <c:x val="0.34328748135081627"/>
          <c:y val="0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u-HU"/>
        </a:p>
      </c:txPr>
    </c:title>
    <c:autoTitleDeleted val="0"/>
    <c:plotArea>
      <c:layout/>
      <c:barChart>
        <c:barDir val="col"/>
        <c:grouping val="clustered"/>
        <c:varyColors val="0"/>
        <c:ser>
          <c:idx val="4"/>
          <c:order val="2"/>
          <c:tx>
            <c:strRef>
              <c:f>ADAMI!$F$8</c:f>
              <c:strCache>
                <c:ptCount val="1"/>
                <c:pt idx="0">
                  <c:v>Teljes kimenet / Total output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numRef>
              <c:f>ADAMI!$A$9:$A$31</c:f>
              <c:numCache>
                <c:formatCode>General</c:formatCode>
                <c:ptCount val="23"/>
                <c:pt idx="0">
                  <c:v>1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18</c:v>
                </c:pt>
                <c:pt idx="12">
                  <c:v>19</c:v>
                </c:pt>
                <c:pt idx="13">
                  <c:v>21</c:v>
                </c:pt>
                <c:pt idx="14">
                  <c:v>22</c:v>
                </c:pt>
                <c:pt idx="15">
                  <c:v>25</c:v>
                </c:pt>
                <c:pt idx="16">
                  <c:v>26</c:v>
                </c:pt>
                <c:pt idx="17">
                  <c:v>27</c:v>
                </c:pt>
                <c:pt idx="18">
                  <c:v>28</c:v>
                </c:pt>
                <c:pt idx="19">
                  <c:v>29</c:v>
                </c:pt>
              </c:numCache>
            </c:numRef>
          </c:cat>
          <c:val>
            <c:numRef>
              <c:f>ADAMI!$F$9:$F$31</c:f>
              <c:numCache>
                <c:formatCode>_-* #\ ##0\ _F_t_-;\-* #\ ##0\ _F_t_-;_-* "-"??\ _F_t_-;_-@_-</c:formatCode>
                <c:ptCount val="23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7C3-4CA1-9AC0-365DEEF8C1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71603256"/>
        <c:axId val="471598552"/>
      </c:barChart>
      <c:lineChart>
        <c:grouping val="standard"/>
        <c:varyColors val="0"/>
        <c:ser>
          <c:idx val="1"/>
          <c:order val="3"/>
          <c:tx>
            <c:strRef>
              <c:f>ADAMI!$B$8</c:f>
              <c:strCache>
                <c:ptCount val="1"/>
                <c:pt idx="0">
                  <c:v>Napi terv / Daily plan</c:v>
                </c:pt>
              </c:strCache>
            </c:strRef>
          </c:tx>
          <c:spPr>
            <a:ln w="28575" cap="rnd">
              <a:solidFill>
                <a:srgbClr val="92D050"/>
              </a:solidFill>
              <a:round/>
            </a:ln>
            <a:effectLst/>
          </c:spPr>
          <c:marker>
            <c:symbol val="none"/>
          </c:marker>
          <c:val>
            <c:numRef>
              <c:f>ADAMI!$B$9:$B$31</c:f>
              <c:numCache>
                <c:formatCode>0</c:formatCode>
                <c:ptCount val="23"/>
                <c:pt idx="0">
                  <c:v>435</c:v>
                </c:pt>
                <c:pt idx="1">
                  <c:v>435</c:v>
                </c:pt>
                <c:pt idx="2">
                  <c:v>435</c:v>
                </c:pt>
                <c:pt idx="3">
                  <c:v>435</c:v>
                </c:pt>
                <c:pt idx="4">
                  <c:v>435</c:v>
                </c:pt>
                <c:pt idx="5">
                  <c:v>435</c:v>
                </c:pt>
                <c:pt idx="6">
                  <c:v>435</c:v>
                </c:pt>
                <c:pt idx="7">
                  <c:v>435</c:v>
                </c:pt>
                <c:pt idx="8">
                  <c:v>435</c:v>
                </c:pt>
                <c:pt idx="9">
                  <c:v>435</c:v>
                </c:pt>
                <c:pt idx="10">
                  <c:v>435</c:v>
                </c:pt>
                <c:pt idx="11">
                  <c:v>435</c:v>
                </c:pt>
                <c:pt idx="12">
                  <c:v>435</c:v>
                </c:pt>
                <c:pt idx="13">
                  <c:v>435</c:v>
                </c:pt>
                <c:pt idx="14">
                  <c:v>435</c:v>
                </c:pt>
                <c:pt idx="15">
                  <c:v>435</c:v>
                </c:pt>
                <c:pt idx="16">
                  <c:v>435</c:v>
                </c:pt>
                <c:pt idx="17">
                  <c:v>435</c:v>
                </c:pt>
                <c:pt idx="18">
                  <c:v>435</c:v>
                </c:pt>
                <c:pt idx="19">
                  <c:v>435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7C3-4CA1-9AC0-365DEEF8C1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71603256"/>
        <c:axId val="471598552"/>
      </c:lineChart>
      <c:lineChart>
        <c:grouping val="standard"/>
        <c:varyColors val="0"/>
        <c:ser>
          <c:idx val="2"/>
          <c:order val="0"/>
          <c:tx>
            <c:strRef>
              <c:f>ADAMI!$D$8</c:f>
              <c:strCache>
                <c:ptCount val="1"/>
                <c:pt idx="0">
                  <c:v>Kumulált terv / Cumulative plan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val>
            <c:numRef>
              <c:f>ADAMI!$D$9:$D$31</c:f>
              <c:numCache>
                <c:formatCode>_-* #\ ##0\ _F_t_-;\-* #\ ##0\ _F_t_-;_-* "-"??\ _F_t_-;_-@_-</c:formatCode>
                <c:ptCount val="23"/>
                <c:pt idx="0">
                  <c:v>435</c:v>
                </c:pt>
                <c:pt idx="1">
                  <c:v>870</c:v>
                </c:pt>
                <c:pt idx="2">
                  <c:v>1305</c:v>
                </c:pt>
                <c:pt idx="3">
                  <c:v>1740</c:v>
                </c:pt>
                <c:pt idx="4">
                  <c:v>2175</c:v>
                </c:pt>
                <c:pt idx="5">
                  <c:v>2610</c:v>
                </c:pt>
                <c:pt idx="6">
                  <c:v>3045</c:v>
                </c:pt>
                <c:pt idx="7">
                  <c:v>3480</c:v>
                </c:pt>
                <c:pt idx="8">
                  <c:v>3915</c:v>
                </c:pt>
                <c:pt idx="9">
                  <c:v>4350</c:v>
                </c:pt>
                <c:pt idx="10">
                  <c:v>4785</c:v>
                </c:pt>
                <c:pt idx="11">
                  <c:v>5220</c:v>
                </c:pt>
                <c:pt idx="12">
                  <c:v>5655</c:v>
                </c:pt>
                <c:pt idx="13">
                  <c:v>6090</c:v>
                </c:pt>
                <c:pt idx="14">
                  <c:v>6525</c:v>
                </c:pt>
                <c:pt idx="15">
                  <c:v>6960</c:v>
                </c:pt>
                <c:pt idx="16">
                  <c:v>7395</c:v>
                </c:pt>
                <c:pt idx="17">
                  <c:v>7830</c:v>
                </c:pt>
                <c:pt idx="18">
                  <c:v>8265</c:v>
                </c:pt>
                <c:pt idx="19">
                  <c:v>8700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7C3-4CA1-9AC0-365DEEF8C1F9}"/>
            </c:ext>
          </c:extLst>
        </c:ser>
        <c:ser>
          <c:idx val="3"/>
          <c:order val="1"/>
          <c:tx>
            <c:strRef>
              <c:f>ADAMI!$E$8</c:f>
              <c:strCache>
                <c:ptCount val="1"/>
                <c:pt idx="0">
                  <c:v>Kimenet (Kumulált) / Output (cumulative)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val>
            <c:numRef>
              <c:f>ADAMI!$E$9:$E$31</c:f>
              <c:numCache>
                <c:formatCode>_-* #\ ##0\ _F_t_-;\-* #\ ##0\ _F_t_-;_-* "-"??\ _F_t_-;_-@_-</c:formatCode>
                <c:ptCount val="23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7C3-4CA1-9AC0-365DEEF8C1F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71595808"/>
        <c:axId val="471598944"/>
      </c:lineChart>
      <c:catAx>
        <c:axId val="4716032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  <c:crossAx val="471598552"/>
        <c:crosses val="autoZero"/>
        <c:auto val="1"/>
        <c:lblAlgn val="ctr"/>
        <c:lblOffset val="100"/>
        <c:noMultiLvlLbl val="0"/>
      </c:catAx>
      <c:valAx>
        <c:axId val="47159855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* #\ ##0\ _F_t_-;\-* #\ ##0\ _F_t_-;_-* &quot;-&quot;??\ _F_t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  <c:crossAx val="471603256"/>
        <c:crosses val="autoZero"/>
        <c:crossBetween val="between"/>
      </c:valAx>
      <c:valAx>
        <c:axId val="471598944"/>
        <c:scaling>
          <c:orientation val="minMax"/>
        </c:scaling>
        <c:delete val="0"/>
        <c:axPos val="r"/>
        <c:numFmt formatCode="_-* #\ ##0\ _F_t_-;\-* #\ ##0\ _F_t_-;_-* &quot;-&quot;??\ _F_t_-;_-@_-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  <c:crossAx val="471595808"/>
        <c:crosses val="max"/>
        <c:crossBetween val="between"/>
      </c:valAx>
      <c:catAx>
        <c:axId val="471595808"/>
        <c:scaling>
          <c:orientation val="minMax"/>
        </c:scaling>
        <c:delete val="1"/>
        <c:axPos val="b"/>
        <c:majorTickMark val="out"/>
        <c:minorTickMark val="none"/>
        <c:tickLblPos val="nextTo"/>
        <c:crossAx val="471598944"/>
        <c:crosses val="autoZero"/>
        <c:auto val="1"/>
        <c:lblAlgn val="ctr"/>
        <c:lblOffset val="100"/>
        <c:noMultiLvlLbl val="0"/>
      </c:catAx>
      <c:spPr>
        <a:noFill/>
        <a:ln w="25400"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u-H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2"/>
      </a:solidFill>
    </a:ln>
    <a:effectLst/>
  </c:spPr>
  <c:txPr>
    <a:bodyPr/>
    <a:lstStyle/>
    <a:p>
      <a:pPr>
        <a:defRPr/>
      </a:pPr>
      <a:endParaRPr lang="hu-HU"/>
    </a:p>
  </c:txPr>
  <c:externalData r:id="rId3">
    <c:autoUpdate val="1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hu-HU"/>
              <a:t>AD AMI Működési</a:t>
            </a:r>
            <a:r>
              <a:rPr lang="hu-HU" baseline="0"/>
              <a:t> idő</a:t>
            </a:r>
            <a:r>
              <a:rPr lang="hu-HU"/>
              <a:t> / AD AMI</a:t>
            </a:r>
            <a:r>
              <a:rPr lang="hu-HU" baseline="0"/>
              <a:t> </a:t>
            </a:r>
            <a:r>
              <a:rPr lang="hu-HU"/>
              <a:t>Operation hours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u-HU"/>
        </a:p>
      </c:txPr>
    </c:title>
    <c:autoTitleDeleted val="0"/>
    <c:plotArea>
      <c:layout/>
      <c:barChart>
        <c:barDir val="col"/>
        <c:grouping val="clustered"/>
        <c:varyColors val="0"/>
        <c:ser>
          <c:idx val="2"/>
          <c:order val="1"/>
          <c:tx>
            <c:strRef>
              <c:f>ADAMI!$P$8</c:f>
              <c:strCache>
                <c:ptCount val="1"/>
                <c:pt idx="0">
                  <c:v>Operating hours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val>
            <c:numRef>
              <c:f>ADAMI!$P$9:$P$31</c:f>
              <c:numCache>
                <c:formatCode>General</c:formatCode>
                <c:ptCount val="23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ECC-47D4-A0A6-AA75EAF9415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71599336"/>
        <c:axId val="471596200"/>
      </c:barChart>
      <c:lineChart>
        <c:grouping val="standard"/>
        <c:varyColors val="0"/>
        <c:ser>
          <c:idx val="0"/>
          <c:order val="0"/>
          <c:tx>
            <c:strRef>
              <c:f>ADAMI!$Q$8</c:f>
              <c:strCache>
                <c:ptCount val="1"/>
                <c:pt idx="0">
                  <c:v>Available operation hours target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numRef>
              <c:f>ADAMI!$A$9:$A$31</c:f>
              <c:numCache>
                <c:formatCode>General</c:formatCode>
                <c:ptCount val="23"/>
                <c:pt idx="0">
                  <c:v>1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18</c:v>
                </c:pt>
                <c:pt idx="12">
                  <c:v>19</c:v>
                </c:pt>
                <c:pt idx="13">
                  <c:v>21</c:v>
                </c:pt>
                <c:pt idx="14">
                  <c:v>22</c:v>
                </c:pt>
                <c:pt idx="15">
                  <c:v>25</c:v>
                </c:pt>
                <c:pt idx="16">
                  <c:v>26</c:v>
                </c:pt>
                <c:pt idx="17">
                  <c:v>27</c:v>
                </c:pt>
                <c:pt idx="18">
                  <c:v>28</c:v>
                </c:pt>
                <c:pt idx="19">
                  <c:v>29</c:v>
                </c:pt>
              </c:numCache>
            </c:numRef>
          </c:cat>
          <c:val>
            <c:numRef>
              <c:f>ADAMI!$Q$9:$Q$31</c:f>
              <c:numCache>
                <c:formatCode>General</c:formatCode>
                <c:ptCount val="23"/>
                <c:pt idx="0">
                  <c:v>8</c:v>
                </c:pt>
                <c:pt idx="1">
                  <c:v>8</c:v>
                </c:pt>
                <c:pt idx="2">
                  <c:v>8</c:v>
                </c:pt>
                <c:pt idx="3">
                  <c:v>8</c:v>
                </c:pt>
                <c:pt idx="4">
                  <c:v>8</c:v>
                </c:pt>
                <c:pt idx="5">
                  <c:v>8</c:v>
                </c:pt>
                <c:pt idx="6">
                  <c:v>8</c:v>
                </c:pt>
                <c:pt idx="7">
                  <c:v>8</c:v>
                </c:pt>
                <c:pt idx="8">
                  <c:v>8</c:v>
                </c:pt>
                <c:pt idx="9">
                  <c:v>8</c:v>
                </c:pt>
                <c:pt idx="10">
                  <c:v>8</c:v>
                </c:pt>
                <c:pt idx="11">
                  <c:v>8</c:v>
                </c:pt>
                <c:pt idx="12">
                  <c:v>8</c:v>
                </c:pt>
                <c:pt idx="13">
                  <c:v>8</c:v>
                </c:pt>
                <c:pt idx="14">
                  <c:v>8</c:v>
                </c:pt>
                <c:pt idx="15">
                  <c:v>8</c:v>
                </c:pt>
                <c:pt idx="16">
                  <c:v>8</c:v>
                </c:pt>
                <c:pt idx="17">
                  <c:v>8</c:v>
                </c:pt>
                <c:pt idx="18">
                  <c:v>8</c:v>
                </c:pt>
                <c:pt idx="19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ECC-47D4-A0A6-AA75EAF9415D}"/>
            </c:ext>
          </c:extLst>
        </c:ser>
        <c:ser>
          <c:idx val="1"/>
          <c:order val="2"/>
          <c:tx>
            <c:strRef>
              <c:f>ADAMI!$R$8</c:f>
              <c:strCache>
                <c:ptCount val="1"/>
                <c:pt idx="0">
                  <c:v>Daily opeation hours plan target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ADAMI!$A$9:$A$31</c:f>
              <c:numCache>
                <c:formatCode>General</c:formatCode>
                <c:ptCount val="23"/>
                <c:pt idx="0">
                  <c:v>1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18</c:v>
                </c:pt>
                <c:pt idx="12">
                  <c:v>19</c:v>
                </c:pt>
                <c:pt idx="13">
                  <c:v>21</c:v>
                </c:pt>
                <c:pt idx="14">
                  <c:v>22</c:v>
                </c:pt>
                <c:pt idx="15">
                  <c:v>25</c:v>
                </c:pt>
                <c:pt idx="16">
                  <c:v>26</c:v>
                </c:pt>
                <c:pt idx="17">
                  <c:v>27</c:v>
                </c:pt>
                <c:pt idx="18">
                  <c:v>28</c:v>
                </c:pt>
                <c:pt idx="19">
                  <c:v>29</c:v>
                </c:pt>
              </c:numCache>
            </c:numRef>
          </c:cat>
          <c:val>
            <c:numRef>
              <c:f>ADAMI!$R$9:$R$31</c:f>
              <c:numCache>
                <c:formatCode>0.0</c:formatCode>
                <c:ptCount val="23"/>
                <c:pt idx="0">
                  <c:v>0.57999999999999996</c:v>
                </c:pt>
                <c:pt idx="1">
                  <c:v>0.57999999999999996</c:v>
                </c:pt>
                <c:pt idx="2">
                  <c:v>0.57999999999999996</c:v>
                </c:pt>
                <c:pt idx="3">
                  <c:v>0.57999999999999996</c:v>
                </c:pt>
                <c:pt idx="4">
                  <c:v>0.57999999999999996</c:v>
                </c:pt>
                <c:pt idx="5">
                  <c:v>0.57999999999999996</c:v>
                </c:pt>
                <c:pt idx="6">
                  <c:v>0.57999999999999996</c:v>
                </c:pt>
                <c:pt idx="7">
                  <c:v>0.57999999999999996</c:v>
                </c:pt>
                <c:pt idx="8">
                  <c:v>0.57999999999999996</c:v>
                </c:pt>
                <c:pt idx="9">
                  <c:v>0.57999999999999996</c:v>
                </c:pt>
                <c:pt idx="10">
                  <c:v>0.57999999999999996</c:v>
                </c:pt>
                <c:pt idx="11">
                  <c:v>0.57999999999999996</c:v>
                </c:pt>
                <c:pt idx="12">
                  <c:v>0.57999999999999996</c:v>
                </c:pt>
                <c:pt idx="13">
                  <c:v>0.57999999999999996</c:v>
                </c:pt>
                <c:pt idx="14">
                  <c:v>0.57999999999999996</c:v>
                </c:pt>
                <c:pt idx="15">
                  <c:v>0.57999999999999996</c:v>
                </c:pt>
                <c:pt idx="16">
                  <c:v>0.57999999999999996</c:v>
                </c:pt>
                <c:pt idx="17">
                  <c:v>0.57999999999999996</c:v>
                </c:pt>
                <c:pt idx="18">
                  <c:v>0.57999999999999996</c:v>
                </c:pt>
                <c:pt idx="19">
                  <c:v>0.57999999999999996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0E19-4939-AEAD-CCD78572D39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71599336"/>
        <c:axId val="471596200"/>
      </c:lineChart>
      <c:catAx>
        <c:axId val="471599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  <c:crossAx val="471596200"/>
        <c:crosses val="autoZero"/>
        <c:auto val="1"/>
        <c:lblAlgn val="ctr"/>
        <c:lblOffset val="100"/>
        <c:noMultiLvlLbl val="0"/>
      </c:catAx>
      <c:valAx>
        <c:axId val="4715962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  <c:crossAx val="4715993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u-H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hu-HU"/>
    </a:p>
  </c:txPr>
  <c:externalData r:id="rId3">
    <c:autoUpdate val="1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hu-HU"/>
              <a:t>AD PKY</a:t>
            </a:r>
            <a:r>
              <a:rPr lang="hu-HU" baseline="0"/>
              <a:t> kimenet nyomonkövető / </a:t>
            </a:r>
            <a:r>
              <a:rPr lang="hu-HU"/>
              <a:t>AD</a:t>
            </a:r>
            <a:r>
              <a:rPr lang="hu-HU" baseline="0"/>
              <a:t> PKY </a:t>
            </a:r>
            <a:r>
              <a:rPr lang="hu-HU"/>
              <a:t>output</a:t>
            </a:r>
            <a:r>
              <a:rPr lang="hu-HU" baseline="0"/>
              <a:t> follow up</a:t>
            </a:r>
            <a:endParaRPr lang="hu-HU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u-HU"/>
        </a:p>
      </c:txPr>
    </c:title>
    <c:autoTitleDeleted val="0"/>
    <c:plotArea>
      <c:layout>
        <c:manualLayout>
          <c:layoutTarget val="inner"/>
          <c:xMode val="edge"/>
          <c:yMode val="edge"/>
          <c:x val="6.9209326249929912E-2"/>
          <c:y val="0.10154688569472965"/>
          <c:w val="0.83639350876803353"/>
          <c:h val="0.77231105865360261"/>
        </c:manualLayout>
      </c:layout>
      <c:barChart>
        <c:barDir val="col"/>
        <c:grouping val="clustered"/>
        <c:varyColors val="0"/>
        <c:ser>
          <c:idx val="4"/>
          <c:order val="2"/>
          <c:tx>
            <c:strRef>
              <c:f>'AD Auto PKY'!$F$8</c:f>
              <c:strCache>
                <c:ptCount val="1"/>
                <c:pt idx="0">
                  <c:v>Teljes kimenet / Total output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numRef>
              <c:f>'AD Auto PKY'!$A$9:$A$29</c:f>
              <c:numCache>
                <c:formatCode>General</c:formatCode>
                <c:ptCount val="21"/>
                <c:pt idx="0">
                  <c:v>1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18</c:v>
                </c:pt>
                <c:pt idx="12">
                  <c:v>19</c:v>
                </c:pt>
                <c:pt idx="13">
                  <c:v>21</c:v>
                </c:pt>
                <c:pt idx="14">
                  <c:v>22</c:v>
                </c:pt>
                <c:pt idx="15">
                  <c:v>25</c:v>
                </c:pt>
                <c:pt idx="16">
                  <c:v>26</c:v>
                </c:pt>
                <c:pt idx="17">
                  <c:v>27</c:v>
                </c:pt>
                <c:pt idx="18">
                  <c:v>28</c:v>
                </c:pt>
                <c:pt idx="19">
                  <c:v>29</c:v>
                </c:pt>
              </c:numCache>
            </c:numRef>
          </c:cat>
          <c:val>
            <c:numRef>
              <c:f>'AD Auto PKY'!$F$9:$F$29</c:f>
              <c:numCache>
                <c:formatCode>_-* #\ ##0\ _F_t_-;\-* #\ ##0\ _F_t_-;_-* "-"??\ _F_t_-;_-@_-</c:formatCode>
                <c:ptCount val="21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48F-4824-88D2-A24BEB7457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72523456"/>
        <c:axId val="472525024"/>
      </c:barChart>
      <c:lineChart>
        <c:grouping val="standard"/>
        <c:varyColors val="0"/>
        <c:ser>
          <c:idx val="1"/>
          <c:order val="3"/>
          <c:tx>
            <c:strRef>
              <c:f>'AD Auto PKY'!$B$8</c:f>
              <c:strCache>
                <c:ptCount val="1"/>
                <c:pt idx="0">
                  <c:v>Napi terv / Daily plan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numRef>
              <c:f>'AD Auto PKY'!$A$9:$A$31</c:f>
              <c:numCache>
                <c:formatCode>General</c:formatCode>
                <c:ptCount val="23"/>
                <c:pt idx="0">
                  <c:v>1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18</c:v>
                </c:pt>
                <c:pt idx="12">
                  <c:v>19</c:v>
                </c:pt>
                <c:pt idx="13">
                  <c:v>21</c:v>
                </c:pt>
                <c:pt idx="14">
                  <c:v>22</c:v>
                </c:pt>
                <c:pt idx="15">
                  <c:v>25</c:v>
                </c:pt>
                <c:pt idx="16">
                  <c:v>26</c:v>
                </c:pt>
                <c:pt idx="17">
                  <c:v>27</c:v>
                </c:pt>
                <c:pt idx="18">
                  <c:v>28</c:v>
                </c:pt>
                <c:pt idx="19">
                  <c:v>29</c:v>
                </c:pt>
              </c:numCache>
            </c:numRef>
          </c:cat>
          <c:val>
            <c:numRef>
              <c:f>'AD Auto PKY'!$B$9:$B$31</c:f>
              <c:numCache>
                <c:formatCode>General</c:formatCode>
                <c:ptCount val="23"/>
                <c:pt idx="0">
                  <c:v>1600</c:v>
                </c:pt>
                <c:pt idx="1">
                  <c:v>1600</c:v>
                </c:pt>
                <c:pt idx="2">
                  <c:v>1600</c:v>
                </c:pt>
                <c:pt idx="3">
                  <c:v>1600</c:v>
                </c:pt>
                <c:pt idx="4">
                  <c:v>1600</c:v>
                </c:pt>
                <c:pt idx="5">
                  <c:v>1600</c:v>
                </c:pt>
                <c:pt idx="6">
                  <c:v>1600</c:v>
                </c:pt>
                <c:pt idx="7">
                  <c:v>1600</c:v>
                </c:pt>
                <c:pt idx="8">
                  <c:v>1600</c:v>
                </c:pt>
                <c:pt idx="9">
                  <c:v>1600</c:v>
                </c:pt>
                <c:pt idx="10">
                  <c:v>1600</c:v>
                </c:pt>
                <c:pt idx="11">
                  <c:v>1600</c:v>
                </c:pt>
                <c:pt idx="12">
                  <c:v>1600</c:v>
                </c:pt>
                <c:pt idx="13">
                  <c:v>1600</c:v>
                </c:pt>
                <c:pt idx="14">
                  <c:v>1600</c:v>
                </c:pt>
                <c:pt idx="15">
                  <c:v>1600</c:v>
                </c:pt>
                <c:pt idx="16">
                  <c:v>1600</c:v>
                </c:pt>
                <c:pt idx="17">
                  <c:v>1600</c:v>
                </c:pt>
                <c:pt idx="18">
                  <c:v>1600</c:v>
                </c:pt>
                <c:pt idx="19">
                  <c:v>1600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48F-4824-88D2-A24BEB7457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72523456"/>
        <c:axId val="472525024"/>
      </c:lineChart>
      <c:lineChart>
        <c:grouping val="standard"/>
        <c:varyColors val="0"/>
        <c:ser>
          <c:idx val="2"/>
          <c:order val="0"/>
          <c:tx>
            <c:strRef>
              <c:f>'AD Auto PKY'!$D$8</c:f>
              <c:strCache>
                <c:ptCount val="1"/>
                <c:pt idx="0">
                  <c:v>Kumulált terv / Cumulative plan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'AD Auto PKY'!$A$9:$A$31</c:f>
              <c:numCache>
                <c:formatCode>General</c:formatCode>
                <c:ptCount val="23"/>
                <c:pt idx="0">
                  <c:v>1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18</c:v>
                </c:pt>
                <c:pt idx="12">
                  <c:v>19</c:v>
                </c:pt>
                <c:pt idx="13">
                  <c:v>21</c:v>
                </c:pt>
                <c:pt idx="14">
                  <c:v>22</c:v>
                </c:pt>
                <c:pt idx="15">
                  <c:v>25</c:v>
                </c:pt>
                <c:pt idx="16">
                  <c:v>26</c:v>
                </c:pt>
                <c:pt idx="17">
                  <c:v>27</c:v>
                </c:pt>
                <c:pt idx="18">
                  <c:v>28</c:v>
                </c:pt>
                <c:pt idx="19">
                  <c:v>29</c:v>
                </c:pt>
              </c:numCache>
            </c:numRef>
          </c:cat>
          <c:val>
            <c:numRef>
              <c:f>'AD Auto PKY'!$D$9:$D$31</c:f>
              <c:numCache>
                <c:formatCode>_-* #\ ##0\ _F_t_-;\-* #\ ##0\ _F_t_-;_-* "-"??\ _F_t_-;_-@_-</c:formatCode>
                <c:ptCount val="23"/>
                <c:pt idx="0">
                  <c:v>1600</c:v>
                </c:pt>
                <c:pt idx="1">
                  <c:v>3200</c:v>
                </c:pt>
                <c:pt idx="2">
                  <c:v>4800</c:v>
                </c:pt>
                <c:pt idx="3">
                  <c:v>6400</c:v>
                </c:pt>
                <c:pt idx="4">
                  <c:v>8000</c:v>
                </c:pt>
                <c:pt idx="5">
                  <c:v>9600</c:v>
                </c:pt>
                <c:pt idx="6">
                  <c:v>11200</c:v>
                </c:pt>
                <c:pt idx="7">
                  <c:v>12800</c:v>
                </c:pt>
                <c:pt idx="8">
                  <c:v>14400</c:v>
                </c:pt>
                <c:pt idx="9">
                  <c:v>16000</c:v>
                </c:pt>
                <c:pt idx="10">
                  <c:v>17600</c:v>
                </c:pt>
                <c:pt idx="11">
                  <c:v>19200</c:v>
                </c:pt>
                <c:pt idx="12">
                  <c:v>20800</c:v>
                </c:pt>
                <c:pt idx="13">
                  <c:v>22400</c:v>
                </c:pt>
                <c:pt idx="14">
                  <c:v>24000</c:v>
                </c:pt>
                <c:pt idx="15">
                  <c:v>25600</c:v>
                </c:pt>
                <c:pt idx="16">
                  <c:v>27200</c:v>
                </c:pt>
                <c:pt idx="17">
                  <c:v>28800</c:v>
                </c:pt>
                <c:pt idx="18">
                  <c:v>30400</c:v>
                </c:pt>
                <c:pt idx="19">
                  <c:v>32000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648F-4824-88D2-A24BEB745790}"/>
            </c:ext>
          </c:extLst>
        </c:ser>
        <c:ser>
          <c:idx val="3"/>
          <c:order val="1"/>
          <c:tx>
            <c:strRef>
              <c:f>'AD Auto PKY'!$E$8</c:f>
              <c:strCache>
                <c:ptCount val="1"/>
                <c:pt idx="0">
                  <c:v>Kimenet (Kumulált) / Output (cumulative)</c:v>
                </c:pt>
              </c:strCache>
            </c:strRef>
          </c:tx>
          <c:spPr>
            <a:ln w="28575" cap="rnd">
              <a:solidFill>
                <a:srgbClr val="FFC000"/>
              </a:solidFill>
              <a:round/>
            </a:ln>
            <a:effectLst/>
          </c:spPr>
          <c:marker>
            <c:symbol val="none"/>
          </c:marker>
          <c:cat>
            <c:numRef>
              <c:f>'AD Auto PKY'!$A$9:$A$31</c:f>
              <c:numCache>
                <c:formatCode>General</c:formatCode>
                <c:ptCount val="23"/>
                <c:pt idx="0">
                  <c:v>1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18</c:v>
                </c:pt>
                <c:pt idx="12">
                  <c:v>19</c:v>
                </c:pt>
                <c:pt idx="13">
                  <c:v>21</c:v>
                </c:pt>
                <c:pt idx="14">
                  <c:v>22</c:v>
                </c:pt>
                <c:pt idx="15">
                  <c:v>25</c:v>
                </c:pt>
                <c:pt idx="16">
                  <c:v>26</c:v>
                </c:pt>
                <c:pt idx="17">
                  <c:v>27</c:v>
                </c:pt>
                <c:pt idx="18">
                  <c:v>28</c:v>
                </c:pt>
                <c:pt idx="19">
                  <c:v>29</c:v>
                </c:pt>
              </c:numCache>
            </c:numRef>
          </c:cat>
          <c:val>
            <c:numRef>
              <c:f>'AD Auto PKY'!$E$9:$E$29</c:f>
              <c:numCache>
                <c:formatCode>_-* #\ ##0\ _F_t_-;\-* #\ ##0\ _F_t_-;_-* "-"??\ _F_t_-;_-@_-</c:formatCode>
                <c:ptCount val="21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48F-4824-88D2-A24BEB74579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72519536"/>
        <c:axId val="472523064"/>
      </c:lineChart>
      <c:catAx>
        <c:axId val="47252345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  <c:crossAx val="472525024"/>
        <c:crosses val="autoZero"/>
        <c:auto val="1"/>
        <c:lblAlgn val="ctr"/>
        <c:lblOffset val="100"/>
        <c:noMultiLvlLbl val="0"/>
      </c:catAx>
      <c:valAx>
        <c:axId val="47252502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* #\ ##0\ _F_t_-;\-* #\ ##0\ _F_t_-;_-* &quot;-&quot;??\ _F_t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  <c:crossAx val="472523456"/>
        <c:crosses val="autoZero"/>
        <c:crossBetween val="between"/>
      </c:valAx>
      <c:valAx>
        <c:axId val="472523064"/>
        <c:scaling>
          <c:orientation val="minMax"/>
        </c:scaling>
        <c:delete val="0"/>
        <c:axPos val="r"/>
        <c:numFmt formatCode="_-* #\ ##0\ _F_t_-;\-* #\ ##0\ _F_t_-;_-* &quot;-&quot;??\ _F_t_-;_-@_-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  <c:crossAx val="472519536"/>
        <c:crosses val="max"/>
        <c:crossBetween val="between"/>
      </c:valAx>
      <c:catAx>
        <c:axId val="47251953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7252306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u-H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2"/>
      </a:solidFill>
    </a:ln>
    <a:effectLst/>
  </c:spPr>
  <c:txPr>
    <a:bodyPr/>
    <a:lstStyle/>
    <a:p>
      <a:pPr>
        <a:defRPr/>
      </a:pPr>
      <a:endParaRPr lang="hu-HU"/>
    </a:p>
  </c:txPr>
  <c:externalData r:id="rId3">
    <c:autoUpdate val="1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hu-HU"/>
              <a:t>AD PKY hatékonyság / AD PKY efficiency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u-HU"/>
        </a:p>
      </c:txPr>
    </c:title>
    <c:autoTitleDeleted val="0"/>
    <c:plotArea>
      <c:layout/>
      <c:barChart>
        <c:barDir val="col"/>
        <c:grouping val="clustered"/>
        <c:varyColors val="0"/>
        <c:ser>
          <c:idx val="2"/>
          <c:order val="2"/>
          <c:tx>
            <c:strRef>
              <c:f>'AD Auto PKY'!$AA$8</c:f>
              <c:strCache>
                <c:ptCount val="1"/>
                <c:pt idx="0">
                  <c:v>Hatékonyság / Efficiency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cat>
            <c:numRef>
              <c:f>'AD Auto PKY'!$A$9:$A$31</c:f>
              <c:numCache>
                <c:formatCode>General</c:formatCode>
                <c:ptCount val="23"/>
                <c:pt idx="0">
                  <c:v>1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18</c:v>
                </c:pt>
                <c:pt idx="12">
                  <c:v>19</c:v>
                </c:pt>
                <c:pt idx="13">
                  <c:v>21</c:v>
                </c:pt>
                <c:pt idx="14">
                  <c:v>22</c:v>
                </c:pt>
                <c:pt idx="15">
                  <c:v>25</c:v>
                </c:pt>
                <c:pt idx="16">
                  <c:v>26</c:v>
                </c:pt>
                <c:pt idx="17">
                  <c:v>27</c:v>
                </c:pt>
                <c:pt idx="18">
                  <c:v>28</c:v>
                </c:pt>
                <c:pt idx="19">
                  <c:v>29</c:v>
                </c:pt>
              </c:numCache>
            </c:numRef>
          </c:cat>
          <c:val>
            <c:numRef>
              <c:f>'AD Auto PKY'!$AA$9:$AA$30</c:f>
              <c:numCache>
                <c:formatCode>0.00%</c:formatCode>
                <c:ptCount val="22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479-4BA6-AA6F-6052C51114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72524632"/>
        <c:axId val="472519144"/>
      </c:barChart>
      <c:lineChart>
        <c:grouping val="standard"/>
        <c:varyColors val="0"/>
        <c:ser>
          <c:idx val="0"/>
          <c:order val="0"/>
          <c:tx>
            <c:strRef>
              <c:f>'AD Auto PKY'!$Y$8</c:f>
              <c:strCache>
                <c:ptCount val="1"/>
                <c:pt idx="0">
                  <c:v>Cél / Target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numRef>
              <c:f>'AD Auto PKY'!$A$9:$A$29</c:f>
              <c:numCache>
                <c:formatCode>General</c:formatCode>
                <c:ptCount val="21"/>
                <c:pt idx="0">
                  <c:v>1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18</c:v>
                </c:pt>
                <c:pt idx="12">
                  <c:v>19</c:v>
                </c:pt>
                <c:pt idx="13">
                  <c:v>21</c:v>
                </c:pt>
                <c:pt idx="14">
                  <c:v>22</c:v>
                </c:pt>
                <c:pt idx="15">
                  <c:v>25</c:v>
                </c:pt>
                <c:pt idx="16">
                  <c:v>26</c:v>
                </c:pt>
                <c:pt idx="17">
                  <c:v>27</c:v>
                </c:pt>
                <c:pt idx="18">
                  <c:v>28</c:v>
                </c:pt>
                <c:pt idx="19">
                  <c:v>29</c:v>
                </c:pt>
              </c:numCache>
            </c:numRef>
          </c:cat>
          <c:val>
            <c:numRef>
              <c:f>'AD Auto PKY'!$Y$9:$Y$29</c:f>
              <c:numCache>
                <c:formatCode>0%</c:formatCode>
                <c:ptCount val="21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F479-4BA6-AA6F-6052C51114AE}"/>
            </c:ext>
          </c:extLst>
        </c:ser>
        <c:ser>
          <c:idx val="1"/>
          <c:order val="1"/>
          <c:tx>
            <c:strRef>
              <c:f>'AD Auto PKY'!$Z$8</c:f>
              <c:strCache>
                <c:ptCount val="1"/>
                <c:pt idx="0">
                  <c:v>Hatékonyság (kumulált) / Efficiency (cumulative)</c:v>
                </c:pt>
              </c:strCache>
            </c:strRef>
          </c:tx>
          <c:spPr>
            <a:ln w="28575" cap="rnd">
              <a:solidFill>
                <a:srgbClr val="FFC000"/>
              </a:solidFill>
              <a:round/>
            </a:ln>
            <a:effectLst/>
          </c:spPr>
          <c:marker>
            <c:symbol val="none"/>
          </c:marker>
          <c:cat>
            <c:numRef>
              <c:f>'AD Auto PKY'!$A$9:$A$29</c:f>
              <c:numCache>
                <c:formatCode>General</c:formatCode>
                <c:ptCount val="21"/>
                <c:pt idx="0">
                  <c:v>1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18</c:v>
                </c:pt>
                <c:pt idx="12">
                  <c:v>19</c:v>
                </c:pt>
                <c:pt idx="13">
                  <c:v>21</c:v>
                </c:pt>
                <c:pt idx="14">
                  <c:v>22</c:v>
                </c:pt>
                <c:pt idx="15">
                  <c:v>25</c:v>
                </c:pt>
                <c:pt idx="16">
                  <c:v>26</c:v>
                </c:pt>
                <c:pt idx="17">
                  <c:v>27</c:v>
                </c:pt>
                <c:pt idx="18">
                  <c:v>28</c:v>
                </c:pt>
                <c:pt idx="19">
                  <c:v>29</c:v>
                </c:pt>
              </c:numCache>
            </c:numRef>
          </c:cat>
          <c:val>
            <c:numRef>
              <c:f>'AD Auto PKY'!$Z$9:$Z$31</c:f>
              <c:numCache>
                <c:formatCode>0.00%</c:formatCode>
                <c:ptCount val="23"/>
                <c:pt idx="0">
                  <c:v>0</c:v>
                </c:pt>
                <c:pt idx="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F479-4BA6-AA6F-6052C51114A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72524632"/>
        <c:axId val="472519144"/>
      </c:lineChart>
      <c:catAx>
        <c:axId val="4725246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  <c:crossAx val="472519144"/>
        <c:crosses val="autoZero"/>
        <c:auto val="1"/>
        <c:lblAlgn val="ctr"/>
        <c:lblOffset val="100"/>
        <c:noMultiLvlLbl val="0"/>
      </c:catAx>
      <c:valAx>
        <c:axId val="472519144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  <c:crossAx val="47252463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u-H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2"/>
      </a:solidFill>
    </a:ln>
    <a:effectLst/>
  </c:spPr>
  <c:txPr>
    <a:bodyPr/>
    <a:lstStyle/>
    <a:p>
      <a:pPr>
        <a:defRPr/>
      </a:pPr>
      <a:endParaRPr lang="hu-HU"/>
    </a:p>
  </c:txPr>
  <c:externalData r:id="rId3">
    <c:autoUpdate val="1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hu-HU" baseline="0"/>
              <a:t>AD AUTO PYP </a:t>
            </a:r>
            <a:r>
              <a:rPr lang="hu-HU"/>
              <a:t>Működési</a:t>
            </a:r>
            <a:r>
              <a:rPr lang="hu-HU" baseline="0"/>
              <a:t> idő</a:t>
            </a:r>
            <a:r>
              <a:rPr lang="hu-HU"/>
              <a:t> / AD</a:t>
            </a:r>
            <a:r>
              <a:rPr lang="hu-HU" baseline="0"/>
              <a:t> AUTO PYP</a:t>
            </a:r>
            <a:r>
              <a:rPr lang="hu-HU"/>
              <a:t> Operation hours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u-HU"/>
        </a:p>
      </c:txPr>
    </c:title>
    <c:autoTitleDeleted val="0"/>
    <c:plotArea>
      <c:layout/>
      <c:barChart>
        <c:barDir val="col"/>
        <c:grouping val="clustered"/>
        <c:varyColors val="0"/>
        <c:ser>
          <c:idx val="2"/>
          <c:order val="1"/>
          <c:tx>
            <c:strRef>
              <c:f>'AD Auto PKY'!$V$8</c:f>
              <c:strCache>
                <c:ptCount val="1"/>
                <c:pt idx="0">
                  <c:v>Operating hours</c:v>
                </c:pt>
              </c:strCache>
            </c:strRef>
          </c:tx>
          <c:spPr>
            <a:solidFill>
              <a:srgbClr val="0070C0"/>
            </a:solidFill>
            <a:ln>
              <a:noFill/>
            </a:ln>
            <a:effectLst/>
          </c:spPr>
          <c:invertIfNegative val="0"/>
          <c:val>
            <c:numRef>
              <c:f>'AD Auto PKY'!$V$9:$V$29</c:f>
              <c:numCache>
                <c:formatCode>General</c:formatCode>
                <c:ptCount val="21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C4-4E90-BA48-2A9EE57A95D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71599336"/>
        <c:axId val="471596200"/>
      </c:barChart>
      <c:lineChart>
        <c:grouping val="standard"/>
        <c:varyColors val="0"/>
        <c:ser>
          <c:idx val="0"/>
          <c:order val="0"/>
          <c:tx>
            <c:strRef>
              <c:f>'AD Auto PKY'!$W$8</c:f>
              <c:strCache>
                <c:ptCount val="1"/>
                <c:pt idx="0">
                  <c:v>Available operation hours target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numRef>
              <c:f>'AD Auto PKY'!$A$9:$A$29</c:f>
              <c:numCache>
                <c:formatCode>General</c:formatCode>
                <c:ptCount val="21"/>
                <c:pt idx="0">
                  <c:v>1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18</c:v>
                </c:pt>
                <c:pt idx="12">
                  <c:v>19</c:v>
                </c:pt>
                <c:pt idx="13">
                  <c:v>21</c:v>
                </c:pt>
                <c:pt idx="14">
                  <c:v>22</c:v>
                </c:pt>
                <c:pt idx="15">
                  <c:v>25</c:v>
                </c:pt>
                <c:pt idx="16">
                  <c:v>26</c:v>
                </c:pt>
                <c:pt idx="17">
                  <c:v>27</c:v>
                </c:pt>
                <c:pt idx="18">
                  <c:v>28</c:v>
                </c:pt>
                <c:pt idx="19">
                  <c:v>29</c:v>
                </c:pt>
              </c:numCache>
            </c:numRef>
          </c:cat>
          <c:val>
            <c:numRef>
              <c:f>'AD Auto PKY'!$W$9:$W$29</c:f>
              <c:numCache>
                <c:formatCode>General</c:formatCode>
                <c:ptCount val="21"/>
                <c:pt idx="0">
                  <c:v>16</c:v>
                </c:pt>
                <c:pt idx="1">
                  <c:v>16</c:v>
                </c:pt>
                <c:pt idx="2">
                  <c:v>16</c:v>
                </c:pt>
                <c:pt idx="3">
                  <c:v>16</c:v>
                </c:pt>
                <c:pt idx="4">
                  <c:v>16</c:v>
                </c:pt>
                <c:pt idx="5">
                  <c:v>16</c:v>
                </c:pt>
                <c:pt idx="6">
                  <c:v>16</c:v>
                </c:pt>
                <c:pt idx="7">
                  <c:v>16</c:v>
                </c:pt>
                <c:pt idx="8">
                  <c:v>16</c:v>
                </c:pt>
                <c:pt idx="9">
                  <c:v>16</c:v>
                </c:pt>
                <c:pt idx="10">
                  <c:v>16</c:v>
                </c:pt>
                <c:pt idx="11">
                  <c:v>16</c:v>
                </c:pt>
                <c:pt idx="12">
                  <c:v>16</c:v>
                </c:pt>
                <c:pt idx="13">
                  <c:v>16</c:v>
                </c:pt>
                <c:pt idx="14">
                  <c:v>16</c:v>
                </c:pt>
                <c:pt idx="15">
                  <c:v>16</c:v>
                </c:pt>
                <c:pt idx="16">
                  <c:v>16</c:v>
                </c:pt>
                <c:pt idx="17">
                  <c:v>16</c:v>
                </c:pt>
                <c:pt idx="18">
                  <c:v>16</c:v>
                </c:pt>
                <c:pt idx="19">
                  <c:v>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BC4-4E90-BA48-2A9EE57A95D8}"/>
            </c:ext>
          </c:extLst>
        </c:ser>
        <c:ser>
          <c:idx val="1"/>
          <c:order val="2"/>
          <c:tx>
            <c:strRef>
              <c:f>'AD Auto PKY'!$X$8</c:f>
              <c:strCache>
                <c:ptCount val="1"/>
                <c:pt idx="0">
                  <c:v>Daily opeation hours plan target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'AD Auto PKY'!$A$9:$A$29</c:f>
              <c:numCache>
                <c:formatCode>General</c:formatCode>
                <c:ptCount val="21"/>
                <c:pt idx="0">
                  <c:v>1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18</c:v>
                </c:pt>
                <c:pt idx="12">
                  <c:v>19</c:v>
                </c:pt>
                <c:pt idx="13">
                  <c:v>21</c:v>
                </c:pt>
                <c:pt idx="14">
                  <c:v>22</c:v>
                </c:pt>
                <c:pt idx="15">
                  <c:v>25</c:v>
                </c:pt>
                <c:pt idx="16">
                  <c:v>26</c:v>
                </c:pt>
                <c:pt idx="17">
                  <c:v>27</c:v>
                </c:pt>
                <c:pt idx="18">
                  <c:v>28</c:v>
                </c:pt>
                <c:pt idx="19">
                  <c:v>29</c:v>
                </c:pt>
              </c:numCache>
            </c:numRef>
          </c:cat>
          <c:val>
            <c:numRef>
              <c:f>'AD Auto PKY'!$X$9:$X$29</c:f>
              <c:numCache>
                <c:formatCode>0.0</c:formatCode>
                <c:ptCount val="21"/>
                <c:pt idx="0">
                  <c:v>0.71111111111111114</c:v>
                </c:pt>
                <c:pt idx="1">
                  <c:v>0.71111111111111114</c:v>
                </c:pt>
                <c:pt idx="2">
                  <c:v>0.71111111111111114</c:v>
                </c:pt>
                <c:pt idx="3">
                  <c:v>0.71111111111111114</c:v>
                </c:pt>
                <c:pt idx="4">
                  <c:v>0.71111111111111114</c:v>
                </c:pt>
                <c:pt idx="5">
                  <c:v>0.71111111111111114</c:v>
                </c:pt>
                <c:pt idx="6">
                  <c:v>0.71111111111111114</c:v>
                </c:pt>
                <c:pt idx="7">
                  <c:v>0.71111111111111114</c:v>
                </c:pt>
                <c:pt idx="8">
                  <c:v>0.71111111111111114</c:v>
                </c:pt>
                <c:pt idx="9">
                  <c:v>0.71111111111111114</c:v>
                </c:pt>
                <c:pt idx="10">
                  <c:v>0.71111111111111114</c:v>
                </c:pt>
                <c:pt idx="11">
                  <c:v>0.71111111111111114</c:v>
                </c:pt>
                <c:pt idx="12">
                  <c:v>0.71111111111111114</c:v>
                </c:pt>
                <c:pt idx="13">
                  <c:v>0.71111111111111114</c:v>
                </c:pt>
                <c:pt idx="14">
                  <c:v>0.71111111111111114</c:v>
                </c:pt>
                <c:pt idx="15">
                  <c:v>0.71111111111111114</c:v>
                </c:pt>
                <c:pt idx="16">
                  <c:v>0.71111111111111114</c:v>
                </c:pt>
                <c:pt idx="17">
                  <c:v>0.71111111111111114</c:v>
                </c:pt>
                <c:pt idx="18">
                  <c:v>0.71111111111111114</c:v>
                </c:pt>
                <c:pt idx="19">
                  <c:v>0.71111111111111114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7A1-4241-927F-374D4DE70F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71599336"/>
        <c:axId val="471596200"/>
      </c:lineChart>
      <c:catAx>
        <c:axId val="471599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  <c:crossAx val="471596200"/>
        <c:crosses val="autoZero"/>
        <c:auto val="1"/>
        <c:lblAlgn val="ctr"/>
        <c:lblOffset val="100"/>
        <c:noMultiLvlLbl val="0"/>
      </c:catAx>
      <c:valAx>
        <c:axId val="4715962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  <c:crossAx val="4715993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u-H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2"/>
      </a:solidFill>
    </a:ln>
    <a:effectLst/>
  </c:spPr>
  <c:txPr>
    <a:bodyPr/>
    <a:lstStyle/>
    <a:p>
      <a:pPr>
        <a:defRPr/>
      </a:pPr>
      <a:endParaRPr lang="hu-HU"/>
    </a:p>
  </c:txPr>
  <c:externalData r:id="rId3">
    <c:autoUpdate val="1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hu-HU"/>
              <a:t>CYT kimenet nyomonkövetés / CYT output</a:t>
            </a:r>
            <a:r>
              <a:rPr lang="hu-HU" baseline="0"/>
              <a:t> follow up</a:t>
            </a:r>
            <a:endParaRPr lang="hu-HU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u-HU"/>
        </a:p>
      </c:txPr>
    </c:title>
    <c:autoTitleDeleted val="0"/>
    <c:plotArea>
      <c:layout>
        <c:manualLayout>
          <c:layoutTarget val="inner"/>
          <c:xMode val="edge"/>
          <c:yMode val="edge"/>
          <c:x val="6.9209326249929912E-2"/>
          <c:y val="0.10154688569472965"/>
          <c:w val="0.83639350876803353"/>
          <c:h val="0.77231105865360261"/>
        </c:manualLayout>
      </c:layout>
      <c:barChart>
        <c:barDir val="col"/>
        <c:grouping val="clustered"/>
        <c:varyColors val="0"/>
        <c:ser>
          <c:idx val="4"/>
          <c:order val="2"/>
          <c:tx>
            <c:strRef>
              <c:f>CYT!$F$8</c:f>
              <c:strCache>
                <c:ptCount val="1"/>
                <c:pt idx="0">
                  <c:v>Teljes kimenet / Total output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numRef>
              <c:f>CYT!$A$9:$A$29</c:f>
              <c:numCache>
                <c:formatCode>General</c:formatCode>
                <c:ptCount val="21"/>
                <c:pt idx="0">
                  <c:v>1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18</c:v>
                </c:pt>
                <c:pt idx="12">
                  <c:v>19</c:v>
                </c:pt>
                <c:pt idx="13">
                  <c:v>21</c:v>
                </c:pt>
                <c:pt idx="14">
                  <c:v>22</c:v>
                </c:pt>
                <c:pt idx="15">
                  <c:v>25</c:v>
                </c:pt>
                <c:pt idx="16">
                  <c:v>26</c:v>
                </c:pt>
                <c:pt idx="17">
                  <c:v>27</c:v>
                </c:pt>
                <c:pt idx="18">
                  <c:v>28</c:v>
                </c:pt>
                <c:pt idx="19">
                  <c:v>29</c:v>
                </c:pt>
              </c:numCache>
            </c:numRef>
          </c:cat>
          <c:val>
            <c:numRef>
              <c:f>CYT!$F$9:$F$29</c:f>
              <c:numCache>
                <c:formatCode>_-* #\ ##0\ _F_t_-;\-* #\ ##0\ _F_t_-;_-* "-"??\ _F_t_-;_-@_-</c:formatCode>
                <c:ptCount val="21"/>
                <c:pt idx="0">
                  <c:v>5309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DD8-42D5-B062-3D8531A40C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72518360"/>
        <c:axId val="472519928"/>
      </c:barChart>
      <c:lineChart>
        <c:grouping val="standard"/>
        <c:varyColors val="0"/>
        <c:ser>
          <c:idx val="1"/>
          <c:order val="3"/>
          <c:tx>
            <c:strRef>
              <c:f>CYT!$B$8</c:f>
              <c:strCache>
                <c:ptCount val="1"/>
                <c:pt idx="0">
                  <c:v>Napi terv / Daily plan</c:v>
                </c:pt>
              </c:strCache>
            </c:strRef>
          </c:tx>
          <c:spPr>
            <a:ln w="28575" cap="rnd">
              <a:solidFill>
                <a:srgbClr val="92D050"/>
              </a:solidFill>
              <a:round/>
            </a:ln>
            <a:effectLst/>
          </c:spPr>
          <c:marker>
            <c:symbol val="none"/>
          </c:marker>
          <c:cat>
            <c:numRef>
              <c:f>CYT!$A$9:$A$31</c:f>
              <c:numCache>
                <c:formatCode>General</c:formatCode>
                <c:ptCount val="23"/>
                <c:pt idx="0">
                  <c:v>1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18</c:v>
                </c:pt>
                <c:pt idx="12">
                  <c:v>19</c:v>
                </c:pt>
                <c:pt idx="13">
                  <c:v>21</c:v>
                </c:pt>
                <c:pt idx="14">
                  <c:v>22</c:v>
                </c:pt>
                <c:pt idx="15">
                  <c:v>25</c:v>
                </c:pt>
                <c:pt idx="16">
                  <c:v>26</c:v>
                </c:pt>
                <c:pt idx="17">
                  <c:v>27</c:v>
                </c:pt>
                <c:pt idx="18">
                  <c:v>28</c:v>
                </c:pt>
                <c:pt idx="19">
                  <c:v>29</c:v>
                </c:pt>
              </c:numCache>
            </c:numRef>
          </c:cat>
          <c:val>
            <c:numRef>
              <c:f>CYT!$B$9:$B$31</c:f>
              <c:numCache>
                <c:formatCode>0</c:formatCode>
                <c:ptCount val="23"/>
                <c:pt idx="0">
                  <c:v>4350</c:v>
                </c:pt>
                <c:pt idx="1">
                  <c:v>4350</c:v>
                </c:pt>
                <c:pt idx="2">
                  <c:v>4350</c:v>
                </c:pt>
                <c:pt idx="3">
                  <c:v>4350</c:v>
                </c:pt>
                <c:pt idx="4">
                  <c:v>4350</c:v>
                </c:pt>
                <c:pt idx="5">
                  <c:v>4350</c:v>
                </c:pt>
                <c:pt idx="6">
                  <c:v>4350</c:v>
                </c:pt>
                <c:pt idx="7">
                  <c:v>4350</c:v>
                </c:pt>
                <c:pt idx="8">
                  <c:v>4350</c:v>
                </c:pt>
                <c:pt idx="9">
                  <c:v>4350</c:v>
                </c:pt>
                <c:pt idx="10">
                  <c:v>4350</c:v>
                </c:pt>
                <c:pt idx="11">
                  <c:v>4350</c:v>
                </c:pt>
                <c:pt idx="12">
                  <c:v>4350</c:v>
                </c:pt>
                <c:pt idx="13">
                  <c:v>4350</c:v>
                </c:pt>
                <c:pt idx="14">
                  <c:v>4350</c:v>
                </c:pt>
                <c:pt idx="15">
                  <c:v>4350</c:v>
                </c:pt>
                <c:pt idx="16">
                  <c:v>4350</c:v>
                </c:pt>
                <c:pt idx="17">
                  <c:v>4350</c:v>
                </c:pt>
                <c:pt idx="18">
                  <c:v>4350</c:v>
                </c:pt>
                <c:pt idx="19">
                  <c:v>4350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DD8-42D5-B062-3D8531A40C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72518360"/>
        <c:axId val="472519928"/>
      </c:lineChart>
      <c:lineChart>
        <c:grouping val="standard"/>
        <c:varyColors val="0"/>
        <c:ser>
          <c:idx val="2"/>
          <c:order val="0"/>
          <c:tx>
            <c:strRef>
              <c:f>CYT!$D$8</c:f>
              <c:strCache>
                <c:ptCount val="1"/>
                <c:pt idx="0">
                  <c:v>Kumulált terv / Cumulative plan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CYT!$A$9:$A$29</c:f>
              <c:numCache>
                <c:formatCode>General</c:formatCode>
                <c:ptCount val="21"/>
                <c:pt idx="0">
                  <c:v>1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18</c:v>
                </c:pt>
                <c:pt idx="12">
                  <c:v>19</c:v>
                </c:pt>
                <c:pt idx="13">
                  <c:v>21</c:v>
                </c:pt>
                <c:pt idx="14">
                  <c:v>22</c:v>
                </c:pt>
                <c:pt idx="15">
                  <c:v>25</c:v>
                </c:pt>
                <c:pt idx="16">
                  <c:v>26</c:v>
                </c:pt>
                <c:pt idx="17">
                  <c:v>27</c:v>
                </c:pt>
                <c:pt idx="18">
                  <c:v>28</c:v>
                </c:pt>
                <c:pt idx="19">
                  <c:v>29</c:v>
                </c:pt>
              </c:numCache>
            </c:numRef>
          </c:cat>
          <c:val>
            <c:numRef>
              <c:f>CYT!$D$9:$D$31</c:f>
              <c:numCache>
                <c:formatCode>_-* #\ ##0\ _F_t_-;\-* #\ ##0\ _F_t_-;_-* "-"??\ _F_t_-;_-@_-</c:formatCode>
                <c:ptCount val="23"/>
                <c:pt idx="0">
                  <c:v>4350</c:v>
                </c:pt>
                <c:pt idx="1">
                  <c:v>8700</c:v>
                </c:pt>
                <c:pt idx="2">
                  <c:v>13050</c:v>
                </c:pt>
                <c:pt idx="3">
                  <c:v>17400</c:v>
                </c:pt>
                <c:pt idx="4">
                  <c:v>21750</c:v>
                </c:pt>
                <c:pt idx="5">
                  <c:v>26100</c:v>
                </c:pt>
                <c:pt idx="6">
                  <c:v>30450</c:v>
                </c:pt>
                <c:pt idx="7">
                  <c:v>34800</c:v>
                </c:pt>
                <c:pt idx="8">
                  <c:v>39150</c:v>
                </c:pt>
                <c:pt idx="9">
                  <c:v>43500</c:v>
                </c:pt>
                <c:pt idx="10">
                  <c:v>47850</c:v>
                </c:pt>
                <c:pt idx="11">
                  <c:v>52200</c:v>
                </c:pt>
                <c:pt idx="12">
                  <c:v>56550</c:v>
                </c:pt>
                <c:pt idx="13">
                  <c:v>60900</c:v>
                </c:pt>
                <c:pt idx="14">
                  <c:v>65250</c:v>
                </c:pt>
                <c:pt idx="15">
                  <c:v>69600</c:v>
                </c:pt>
                <c:pt idx="16">
                  <c:v>73950</c:v>
                </c:pt>
                <c:pt idx="17">
                  <c:v>78300</c:v>
                </c:pt>
                <c:pt idx="18">
                  <c:v>82650</c:v>
                </c:pt>
                <c:pt idx="19">
                  <c:v>87000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DD8-42D5-B062-3D8531A40C4B}"/>
            </c:ext>
          </c:extLst>
        </c:ser>
        <c:ser>
          <c:idx val="3"/>
          <c:order val="1"/>
          <c:tx>
            <c:strRef>
              <c:f>CYT!$E$8</c:f>
              <c:strCache>
                <c:ptCount val="1"/>
                <c:pt idx="0">
                  <c:v>Kimenet (Kumulált) / Output (cumulative)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CYT!$A$9:$A$29</c:f>
              <c:numCache>
                <c:formatCode>General</c:formatCode>
                <c:ptCount val="21"/>
                <c:pt idx="0">
                  <c:v>1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18</c:v>
                </c:pt>
                <c:pt idx="12">
                  <c:v>19</c:v>
                </c:pt>
                <c:pt idx="13">
                  <c:v>21</c:v>
                </c:pt>
                <c:pt idx="14">
                  <c:v>22</c:v>
                </c:pt>
                <c:pt idx="15">
                  <c:v>25</c:v>
                </c:pt>
                <c:pt idx="16">
                  <c:v>26</c:v>
                </c:pt>
                <c:pt idx="17">
                  <c:v>27</c:v>
                </c:pt>
                <c:pt idx="18">
                  <c:v>28</c:v>
                </c:pt>
                <c:pt idx="19">
                  <c:v>29</c:v>
                </c:pt>
              </c:numCache>
            </c:numRef>
          </c:cat>
          <c:val>
            <c:numRef>
              <c:f>CYT!$E$9:$E$29</c:f>
              <c:numCache>
                <c:formatCode>_-* #\ ##0\ _F_t_-;\-* #\ ##0\ _F_t_-;_-* "-"??\ _F_t_-;_-@_-</c:formatCode>
                <c:ptCount val="21"/>
                <c:pt idx="0">
                  <c:v>5309</c:v>
                </c:pt>
                <c:pt idx="1">
                  <c:v>5309</c:v>
                </c:pt>
                <c:pt idx="2">
                  <c:v>5309</c:v>
                </c:pt>
                <c:pt idx="3">
                  <c:v>5309</c:v>
                </c:pt>
                <c:pt idx="4">
                  <c:v>5309</c:v>
                </c:pt>
                <c:pt idx="5">
                  <c:v>5309</c:v>
                </c:pt>
                <c:pt idx="6">
                  <c:v>5309</c:v>
                </c:pt>
                <c:pt idx="7">
                  <c:v>5309</c:v>
                </c:pt>
                <c:pt idx="8">
                  <c:v>5309</c:v>
                </c:pt>
                <c:pt idx="9">
                  <c:v>5309</c:v>
                </c:pt>
                <c:pt idx="10">
                  <c:v>5309</c:v>
                </c:pt>
                <c:pt idx="11">
                  <c:v>5309</c:v>
                </c:pt>
                <c:pt idx="12">
                  <c:v>5309</c:v>
                </c:pt>
                <c:pt idx="13">
                  <c:v>5309</c:v>
                </c:pt>
                <c:pt idx="14">
                  <c:v>5309</c:v>
                </c:pt>
                <c:pt idx="15">
                  <c:v>5309</c:v>
                </c:pt>
                <c:pt idx="16">
                  <c:v>5309</c:v>
                </c:pt>
                <c:pt idx="17">
                  <c:v>5309</c:v>
                </c:pt>
                <c:pt idx="18">
                  <c:v>5309</c:v>
                </c:pt>
                <c:pt idx="19">
                  <c:v>5309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4DD8-42D5-B062-3D8531A40C4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72521104"/>
        <c:axId val="472520320"/>
      </c:lineChart>
      <c:catAx>
        <c:axId val="4725183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  <c:crossAx val="472519928"/>
        <c:crosses val="autoZero"/>
        <c:auto val="1"/>
        <c:lblAlgn val="ctr"/>
        <c:lblOffset val="100"/>
        <c:noMultiLvlLbl val="0"/>
      </c:catAx>
      <c:valAx>
        <c:axId val="47251992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* #\ ##0\ _F_t_-;\-* #\ ##0\ _F_t_-;_-* &quot;-&quot;??\ _F_t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  <c:crossAx val="472518360"/>
        <c:crosses val="autoZero"/>
        <c:crossBetween val="between"/>
      </c:valAx>
      <c:valAx>
        <c:axId val="472520320"/>
        <c:scaling>
          <c:orientation val="minMax"/>
        </c:scaling>
        <c:delete val="0"/>
        <c:axPos val="r"/>
        <c:numFmt formatCode="_-* #\ ##0\ _F_t_-;\-* #\ ##0\ _F_t_-;_-* &quot;-&quot;??\ _F_t_-;_-@_-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  <c:crossAx val="472521104"/>
        <c:crosses val="max"/>
        <c:crossBetween val="between"/>
      </c:valAx>
      <c:catAx>
        <c:axId val="472521104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7252032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u-H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2"/>
      </a:solidFill>
    </a:ln>
    <a:effectLst/>
  </c:spPr>
  <c:txPr>
    <a:bodyPr/>
    <a:lstStyle/>
    <a:p>
      <a:pPr>
        <a:defRPr/>
      </a:pPr>
      <a:endParaRPr lang="hu-HU"/>
    </a:p>
  </c:txPr>
  <c:externalData r:id="rId3">
    <c:autoUpdate val="1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hu-HU"/>
              <a:t>CYT hatékonyság / CYT  efficiency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u-HU"/>
        </a:p>
      </c:txPr>
    </c:title>
    <c:autoTitleDeleted val="0"/>
    <c:plotArea>
      <c:layout/>
      <c:barChart>
        <c:barDir val="col"/>
        <c:grouping val="clustered"/>
        <c:varyColors val="0"/>
        <c:ser>
          <c:idx val="2"/>
          <c:order val="2"/>
          <c:tx>
            <c:strRef>
              <c:f>CYT!$AA$8</c:f>
              <c:strCache>
                <c:ptCount val="1"/>
                <c:pt idx="0">
                  <c:v>Hatékonyság / Efficiency</c:v>
                </c:pt>
              </c:strCache>
            </c:strRef>
          </c:tx>
          <c:spPr>
            <a:solidFill>
              <a:srgbClr val="0070C0"/>
            </a:solidFill>
            <a:ln>
              <a:solidFill>
                <a:srgbClr val="0070C0"/>
              </a:solidFill>
            </a:ln>
            <a:effectLst/>
          </c:spPr>
          <c:invertIfNegative val="0"/>
          <c:cat>
            <c:numRef>
              <c:f>CYT!$A$9:$A$31</c:f>
              <c:numCache>
                <c:formatCode>General</c:formatCode>
                <c:ptCount val="23"/>
                <c:pt idx="0">
                  <c:v>1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18</c:v>
                </c:pt>
                <c:pt idx="12">
                  <c:v>19</c:v>
                </c:pt>
                <c:pt idx="13">
                  <c:v>21</c:v>
                </c:pt>
                <c:pt idx="14">
                  <c:v>22</c:v>
                </c:pt>
                <c:pt idx="15">
                  <c:v>25</c:v>
                </c:pt>
                <c:pt idx="16">
                  <c:v>26</c:v>
                </c:pt>
                <c:pt idx="17">
                  <c:v>27</c:v>
                </c:pt>
                <c:pt idx="18">
                  <c:v>28</c:v>
                </c:pt>
                <c:pt idx="19">
                  <c:v>29</c:v>
                </c:pt>
              </c:numCache>
            </c:numRef>
          </c:cat>
          <c:val>
            <c:numRef>
              <c:f>CYT!$AA$9:$AA$30</c:f>
              <c:numCache>
                <c:formatCode>0.00%</c:formatCode>
                <c:ptCount val="22"/>
                <c:pt idx="0">
                  <c:v>1.5899000000000001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A39-4081-B631-E5900162FD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71600120"/>
        <c:axId val="471600512"/>
      </c:barChart>
      <c:lineChart>
        <c:grouping val="standard"/>
        <c:varyColors val="0"/>
        <c:ser>
          <c:idx val="0"/>
          <c:order val="0"/>
          <c:tx>
            <c:strRef>
              <c:f>CYT!$Y$8</c:f>
              <c:strCache>
                <c:ptCount val="1"/>
                <c:pt idx="0">
                  <c:v>Cél / Target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numRef>
              <c:f>CYT!$A$9:$A$29</c:f>
              <c:numCache>
                <c:formatCode>General</c:formatCode>
                <c:ptCount val="21"/>
                <c:pt idx="0">
                  <c:v>1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18</c:v>
                </c:pt>
                <c:pt idx="12">
                  <c:v>19</c:v>
                </c:pt>
                <c:pt idx="13">
                  <c:v>21</c:v>
                </c:pt>
                <c:pt idx="14">
                  <c:v>22</c:v>
                </c:pt>
                <c:pt idx="15">
                  <c:v>25</c:v>
                </c:pt>
                <c:pt idx="16">
                  <c:v>26</c:v>
                </c:pt>
                <c:pt idx="17">
                  <c:v>27</c:v>
                </c:pt>
                <c:pt idx="18">
                  <c:v>28</c:v>
                </c:pt>
                <c:pt idx="19">
                  <c:v>29</c:v>
                </c:pt>
              </c:numCache>
            </c:numRef>
          </c:cat>
          <c:val>
            <c:numRef>
              <c:f>CYT!$Y$9:$Y$31</c:f>
              <c:numCache>
                <c:formatCode>0%</c:formatCode>
                <c:ptCount val="23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A39-4081-B631-E5900162FD23}"/>
            </c:ext>
          </c:extLst>
        </c:ser>
        <c:ser>
          <c:idx val="1"/>
          <c:order val="1"/>
          <c:tx>
            <c:strRef>
              <c:f>CYT!$Z$8</c:f>
              <c:strCache>
                <c:ptCount val="1"/>
                <c:pt idx="0">
                  <c:v>Hatékonyság (kumulált) / Efficiency (cumulative)</c:v>
                </c:pt>
              </c:strCache>
            </c:strRef>
          </c:tx>
          <c:spPr>
            <a:ln w="28575" cap="rnd">
              <a:solidFill>
                <a:srgbClr val="FFC000"/>
              </a:solidFill>
              <a:round/>
            </a:ln>
            <a:effectLst/>
          </c:spPr>
          <c:marker>
            <c:symbol val="none"/>
          </c:marker>
          <c:cat>
            <c:numRef>
              <c:f>CYT!$A$9:$A$29</c:f>
              <c:numCache>
                <c:formatCode>General</c:formatCode>
                <c:ptCount val="21"/>
                <c:pt idx="0">
                  <c:v>1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18</c:v>
                </c:pt>
                <c:pt idx="12">
                  <c:v>19</c:v>
                </c:pt>
                <c:pt idx="13">
                  <c:v>21</c:v>
                </c:pt>
                <c:pt idx="14">
                  <c:v>22</c:v>
                </c:pt>
                <c:pt idx="15">
                  <c:v>25</c:v>
                </c:pt>
                <c:pt idx="16">
                  <c:v>26</c:v>
                </c:pt>
                <c:pt idx="17">
                  <c:v>27</c:v>
                </c:pt>
                <c:pt idx="18">
                  <c:v>28</c:v>
                </c:pt>
                <c:pt idx="19">
                  <c:v>29</c:v>
                </c:pt>
              </c:numCache>
            </c:numRef>
          </c:cat>
          <c:val>
            <c:numRef>
              <c:f>CYT!$Z$9:$Z$30</c:f>
              <c:numCache>
                <c:formatCode>0.00%</c:formatCode>
                <c:ptCount val="22"/>
                <c:pt idx="0">
                  <c:v>1.5899000000000001</c:v>
                </c:pt>
                <c:pt idx="1">
                  <c:v>1.5899000000000001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A39-4081-B631-E5900162FD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71600120"/>
        <c:axId val="471600512"/>
      </c:lineChart>
      <c:catAx>
        <c:axId val="4716001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  <c:crossAx val="471600512"/>
        <c:crosses val="autoZero"/>
        <c:auto val="1"/>
        <c:lblAlgn val="ctr"/>
        <c:lblOffset val="100"/>
        <c:noMultiLvlLbl val="0"/>
      </c:catAx>
      <c:valAx>
        <c:axId val="4716005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  <c:crossAx val="47160012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u-H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2"/>
      </a:solidFill>
    </a:ln>
    <a:effectLst/>
  </c:spPr>
  <c:txPr>
    <a:bodyPr/>
    <a:lstStyle/>
    <a:p>
      <a:pPr>
        <a:defRPr/>
      </a:pPr>
      <a:endParaRPr lang="hu-HU"/>
    </a:p>
  </c:txPr>
  <c:externalData r:id="rId3">
    <c:autoUpdate val="1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hu-HU" baseline="0"/>
              <a:t>CYT </a:t>
            </a:r>
            <a:r>
              <a:rPr lang="hu-HU"/>
              <a:t>Működési</a:t>
            </a:r>
            <a:r>
              <a:rPr lang="hu-HU" baseline="0"/>
              <a:t> idő</a:t>
            </a:r>
            <a:r>
              <a:rPr lang="hu-HU"/>
              <a:t> / CYT Operation hours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u-HU"/>
        </a:p>
      </c:txPr>
    </c:title>
    <c:autoTitleDeleted val="0"/>
    <c:plotArea>
      <c:layout/>
      <c:barChart>
        <c:barDir val="col"/>
        <c:grouping val="clustered"/>
        <c:varyColors val="0"/>
        <c:ser>
          <c:idx val="2"/>
          <c:order val="1"/>
          <c:tx>
            <c:strRef>
              <c:f>CYT!$V$8</c:f>
              <c:strCache>
                <c:ptCount val="1"/>
                <c:pt idx="0">
                  <c:v>Operating hours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accent1"/>
              </a:solidFill>
            </a:ln>
            <a:effectLst/>
          </c:spPr>
          <c:invertIfNegative val="0"/>
          <c:cat>
            <c:numRef>
              <c:f>CYT!$A$9:$A$32</c:f>
              <c:numCache>
                <c:formatCode>General</c:formatCode>
                <c:ptCount val="24"/>
                <c:pt idx="0">
                  <c:v>1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18</c:v>
                </c:pt>
                <c:pt idx="12">
                  <c:v>19</c:v>
                </c:pt>
                <c:pt idx="13">
                  <c:v>21</c:v>
                </c:pt>
                <c:pt idx="14">
                  <c:v>22</c:v>
                </c:pt>
                <c:pt idx="15">
                  <c:v>25</c:v>
                </c:pt>
                <c:pt idx="16">
                  <c:v>26</c:v>
                </c:pt>
                <c:pt idx="17">
                  <c:v>27</c:v>
                </c:pt>
                <c:pt idx="18">
                  <c:v>28</c:v>
                </c:pt>
                <c:pt idx="19">
                  <c:v>29</c:v>
                </c:pt>
              </c:numCache>
            </c:numRef>
          </c:cat>
          <c:val>
            <c:numRef>
              <c:f>CYT!$V$9:$V$32</c:f>
              <c:numCache>
                <c:formatCode>General</c:formatCode>
                <c:ptCount val="24"/>
                <c:pt idx="0">
                  <c:v>8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118-4B22-9903-859EAC24EF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71599336"/>
        <c:axId val="471596200"/>
      </c:barChart>
      <c:lineChart>
        <c:grouping val="standard"/>
        <c:varyColors val="0"/>
        <c:ser>
          <c:idx val="0"/>
          <c:order val="0"/>
          <c:tx>
            <c:strRef>
              <c:f>CYT!$W$8</c:f>
              <c:strCache>
                <c:ptCount val="1"/>
                <c:pt idx="0">
                  <c:v>Available operation hours target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numRef>
              <c:f>CYT!$A$9:$A$32</c:f>
              <c:numCache>
                <c:formatCode>General</c:formatCode>
                <c:ptCount val="24"/>
                <c:pt idx="0">
                  <c:v>1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18</c:v>
                </c:pt>
                <c:pt idx="12">
                  <c:v>19</c:v>
                </c:pt>
                <c:pt idx="13">
                  <c:v>21</c:v>
                </c:pt>
                <c:pt idx="14">
                  <c:v>22</c:v>
                </c:pt>
                <c:pt idx="15">
                  <c:v>25</c:v>
                </c:pt>
                <c:pt idx="16">
                  <c:v>26</c:v>
                </c:pt>
                <c:pt idx="17">
                  <c:v>27</c:v>
                </c:pt>
                <c:pt idx="18">
                  <c:v>28</c:v>
                </c:pt>
                <c:pt idx="19">
                  <c:v>29</c:v>
                </c:pt>
              </c:numCache>
            </c:numRef>
          </c:cat>
          <c:val>
            <c:numRef>
              <c:f>CYT!$W$9:$W$32</c:f>
              <c:numCache>
                <c:formatCode>General</c:formatCode>
                <c:ptCount val="24"/>
                <c:pt idx="0">
                  <c:v>16</c:v>
                </c:pt>
                <c:pt idx="1">
                  <c:v>16</c:v>
                </c:pt>
                <c:pt idx="2">
                  <c:v>16</c:v>
                </c:pt>
                <c:pt idx="3">
                  <c:v>16</c:v>
                </c:pt>
                <c:pt idx="4">
                  <c:v>16</c:v>
                </c:pt>
                <c:pt idx="5">
                  <c:v>16</c:v>
                </c:pt>
                <c:pt idx="6">
                  <c:v>16</c:v>
                </c:pt>
                <c:pt idx="7">
                  <c:v>16</c:v>
                </c:pt>
                <c:pt idx="8">
                  <c:v>16</c:v>
                </c:pt>
                <c:pt idx="9">
                  <c:v>16</c:v>
                </c:pt>
                <c:pt idx="10">
                  <c:v>16</c:v>
                </c:pt>
                <c:pt idx="11">
                  <c:v>16</c:v>
                </c:pt>
                <c:pt idx="12">
                  <c:v>16</c:v>
                </c:pt>
                <c:pt idx="13">
                  <c:v>16</c:v>
                </c:pt>
                <c:pt idx="14">
                  <c:v>16</c:v>
                </c:pt>
                <c:pt idx="15">
                  <c:v>16</c:v>
                </c:pt>
                <c:pt idx="16">
                  <c:v>16</c:v>
                </c:pt>
                <c:pt idx="17">
                  <c:v>16</c:v>
                </c:pt>
                <c:pt idx="18">
                  <c:v>16</c:v>
                </c:pt>
                <c:pt idx="19">
                  <c:v>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118-4B22-9903-859EAC24EFFD}"/>
            </c:ext>
          </c:extLst>
        </c:ser>
        <c:ser>
          <c:idx val="1"/>
          <c:order val="2"/>
          <c:tx>
            <c:strRef>
              <c:f>CYT!$X$8</c:f>
              <c:strCache>
                <c:ptCount val="1"/>
                <c:pt idx="0">
                  <c:v>Daily opeation hours plan target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CYT!$A$9:$A$32</c:f>
              <c:numCache>
                <c:formatCode>General</c:formatCode>
                <c:ptCount val="24"/>
                <c:pt idx="0">
                  <c:v>1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18</c:v>
                </c:pt>
                <c:pt idx="12">
                  <c:v>19</c:v>
                </c:pt>
                <c:pt idx="13">
                  <c:v>21</c:v>
                </c:pt>
                <c:pt idx="14">
                  <c:v>22</c:v>
                </c:pt>
                <c:pt idx="15">
                  <c:v>25</c:v>
                </c:pt>
                <c:pt idx="16">
                  <c:v>26</c:v>
                </c:pt>
                <c:pt idx="17">
                  <c:v>27</c:v>
                </c:pt>
                <c:pt idx="18">
                  <c:v>28</c:v>
                </c:pt>
                <c:pt idx="19">
                  <c:v>29</c:v>
                </c:pt>
              </c:numCache>
            </c:numRef>
          </c:cat>
          <c:val>
            <c:numRef>
              <c:f>CYT!$X$9:$X$32</c:f>
              <c:numCache>
                <c:formatCode>0.0</c:formatCode>
                <c:ptCount val="24"/>
                <c:pt idx="0">
                  <c:v>4.3499999999999996</c:v>
                </c:pt>
                <c:pt idx="1">
                  <c:v>4.3499999999999996</c:v>
                </c:pt>
                <c:pt idx="2">
                  <c:v>4.3499999999999996</c:v>
                </c:pt>
                <c:pt idx="3">
                  <c:v>4.3499999999999996</c:v>
                </c:pt>
                <c:pt idx="4">
                  <c:v>4.3499999999999996</c:v>
                </c:pt>
                <c:pt idx="5">
                  <c:v>4.3499999999999996</c:v>
                </c:pt>
                <c:pt idx="6">
                  <c:v>4.3499999999999996</c:v>
                </c:pt>
                <c:pt idx="7">
                  <c:v>4.3499999999999996</c:v>
                </c:pt>
                <c:pt idx="8">
                  <c:v>4.3499999999999996</c:v>
                </c:pt>
                <c:pt idx="9">
                  <c:v>4.3499999999999996</c:v>
                </c:pt>
                <c:pt idx="10">
                  <c:v>4.3499999999999996</c:v>
                </c:pt>
                <c:pt idx="11">
                  <c:v>4.3499999999999996</c:v>
                </c:pt>
                <c:pt idx="12">
                  <c:v>4.3499999999999996</c:v>
                </c:pt>
                <c:pt idx="13">
                  <c:v>4.3499999999999996</c:v>
                </c:pt>
                <c:pt idx="14">
                  <c:v>4.3499999999999996</c:v>
                </c:pt>
                <c:pt idx="15">
                  <c:v>4.3499999999999996</c:v>
                </c:pt>
                <c:pt idx="16">
                  <c:v>4.3499999999999996</c:v>
                </c:pt>
                <c:pt idx="17">
                  <c:v>4.3499999999999996</c:v>
                </c:pt>
                <c:pt idx="18">
                  <c:v>4.3499999999999996</c:v>
                </c:pt>
                <c:pt idx="19">
                  <c:v>4.3499999999999996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118-4B22-9903-859EAC24EF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71599336"/>
        <c:axId val="471596200"/>
      </c:lineChart>
      <c:catAx>
        <c:axId val="471599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  <c:crossAx val="471596200"/>
        <c:crosses val="autoZero"/>
        <c:auto val="1"/>
        <c:lblAlgn val="ctr"/>
        <c:lblOffset val="100"/>
        <c:noMultiLvlLbl val="0"/>
      </c:catAx>
      <c:valAx>
        <c:axId val="4715962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  <c:crossAx val="4715993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u-H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2"/>
      </a:solidFill>
    </a:ln>
    <a:effectLst/>
  </c:spPr>
  <c:txPr>
    <a:bodyPr/>
    <a:lstStyle/>
    <a:p>
      <a:pPr>
        <a:defRPr/>
      </a:pPr>
      <a:endParaRPr lang="hu-HU"/>
    </a:p>
  </c:txPr>
  <c:externalData r:id="rId3">
    <c:autoUpdate val="1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hu-HU"/>
              <a:t>APIM kimenet nyomonkövetés / APIM output</a:t>
            </a:r>
            <a:r>
              <a:rPr lang="hu-HU" baseline="0"/>
              <a:t> follow up</a:t>
            </a:r>
            <a:endParaRPr lang="hu-HU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u-HU"/>
        </a:p>
      </c:txPr>
    </c:title>
    <c:autoTitleDeleted val="0"/>
    <c:plotArea>
      <c:layout>
        <c:manualLayout>
          <c:layoutTarget val="inner"/>
          <c:xMode val="edge"/>
          <c:yMode val="edge"/>
          <c:x val="6.9209326249929912E-2"/>
          <c:y val="0.10154688569472965"/>
          <c:w val="0.83639350876803353"/>
          <c:h val="0.77231105865360261"/>
        </c:manualLayout>
      </c:layout>
      <c:barChart>
        <c:barDir val="col"/>
        <c:grouping val="clustered"/>
        <c:varyColors val="0"/>
        <c:ser>
          <c:idx val="4"/>
          <c:order val="2"/>
          <c:tx>
            <c:strRef>
              <c:f>APIM!$F$8</c:f>
              <c:strCache>
                <c:ptCount val="1"/>
                <c:pt idx="0">
                  <c:v>Teljes kimenet / Total output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numRef>
              <c:f>APIM!$A$9:$A$31</c:f>
              <c:numCache>
                <c:formatCode>General</c:formatCode>
                <c:ptCount val="23"/>
                <c:pt idx="0">
                  <c:v>1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18</c:v>
                </c:pt>
                <c:pt idx="12">
                  <c:v>19</c:v>
                </c:pt>
                <c:pt idx="13">
                  <c:v>21</c:v>
                </c:pt>
                <c:pt idx="14">
                  <c:v>22</c:v>
                </c:pt>
                <c:pt idx="15">
                  <c:v>25</c:v>
                </c:pt>
                <c:pt idx="16">
                  <c:v>26</c:v>
                </c:pt>
                <c:pt idx="17">
                  <c:v>27</c:v>
                </c:pt>
                <c:pt idx="18">
                  <c:v>28</c:v>
                </c:pt>
                <c:pt idx="19">
                  <c:v>29</c:v>
                </c:pt>
              </c:numCache>
            </c:numRef>
          </c:cat>
          <c:val>
            <c:numRef>
              <c:f>APIM!$F$9:$F$31</c:f>
              <c:numCache>
                <c:formatCode>_-* #\ ##0\ _F_t_-;\-* #\ ##0\ _F_t_-;_-* "-"??\ _F_t_-;_-@_-</c:formatCode>
                <c:ptCount val="23"/>
                <c:pt idx="0">
                  <c:v>1395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39C-4408-8830-B41E472329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73133888"/>
        <c:axId val="473134280"/>
      </c:barChart>
      <c:lineChart>
        <c:grouping val="standard"/>
        <c:varyColors val="0"/>
        <c:ser>
          <c:idx val="1"/>
          <c:order val="3"/>
          <c:tx>
            <c:strRef>
              <c:f>APIM!$B$8</c:f>
              <c:strCache>
                <c:ptCount val="1"/>
                <c:pt idx="0">
                  <c:v>Napi terv / Daily plan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numRef>
              <c:f>APIM!$A$9:$A$31</c:f>
              <c:numCache>
                <c:formatCode>General</c:formatCode>
                <c:ptCount val="23"/>
                <c:pt idx="0">
                  <c:v>1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18</c:v>
                </c:pt>
                <c:pt idx="12">
                  <c:v>19</c:v>
                </c:pt>
                <c:pt idx="13">
                  <c:v>21</c:v>
                </c:pt>
                <c:pt idx="14">
                  <c:v>22</c:v>
                </c:pt>
                <c:pt idx="15">
                  <c:v>25</c:v>
                </c:pt>
                <c:pt idx="16">
                  <c:v>26</c:v>
                </c:pt>
                <c:pt idx="17">
                  <c:v>27</c:v>
                </c:pt>
                <c:pt idx="18">
                  <c:v>28</c:v>
                </c:pt>
                <c:pt idx="19">
                  <c:v>29</c:v>
                </c:pt>
              </c:numCache>
            </c:numRef>
          </c:cat>
          <c:val>
            <c:numRef>
              <c:f>APIM!$B$9:$B$31</c:f>
              <c:numCache>
                <c:formatCode>General</c:formatCode>
                <c:ptCount val="23"/>
                <c:pt idx="0">
                  <c:v>580</c:v>
                </c:pt>
                <c:pt idx="1">
                  <c:v>580</c:v>
                </c:pt>
                <c:pt idx="2">
                  <c:v>580</c:v>
                </c:pt>
                <c:pt idx="3">
                  <c:v>580</c:v>
                </c:pt>
                <c:pt idx="4">
                  <c:v>580</c:v>
                </c:pt>
                <c:pt idx="5">
                  <c:v>580</c:v>
                </c:pt>
                <c:pt idx="6">
                  <c:v>580</c:v>
                </c:pt>
                <c:pt idx="7">
                  <c:v>580</c:v>
                </c:pt>
                <c:pt idx="8">
                  <c:v>580</c:v>
                </c:pt>
                <c:pt idx="9">
                  <c:v>580</c:v>
                </c:pt>
                <c:pt idx="10">
                  <c:v>580</c:v>
                </c:pt>
                <c:pt idx="11">
                  <c:v>580</c:v>
                </c:pt>
                <c:pt idx="12">
                  <c:v>580</c:v>
                </c:pt>
                <c:pt idx="13">
                  <c:v>580</c:v>
                </c:pt>
                <c:pt idx="14">
                  <c:v>580</c:v>
                </c:pt>
                <c:pt idx="15">
                  <c:v>580</c:v>
                </c:pt>
                <c:pt idx="16">
                  <c:v>580</c:v>
                </c:pt>
                <c:pt idx="17">
                  <c:v>580</c:v>
                </c:pt>
                <c:pt idx="18">
                  <c:v>580</c:v>
                </c:pt>
                <c:pt idx="19">
                  <c:v>580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939C-4408-8830-B41E472329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73133888"/>
        <c:axId val="473134280"/>
      </c:lineChart>
      <c:lineChart>
        <c:grouping val="standard"/>
        <c:varyColors val="0"/>
        <c:ser>
          <c:idx val="2"/>
          <c:order val="0"/>
          <c:tx>
            <c:strRef>
              <c:f>APIM!$D$8</c:f>
              <c:strCache>
                <c:ptCount val="1"/>
                <c:pt idx="0">
                  <c:v>Kumulált terv / Cumulative plan</c:v>
                </c:pt>
              </c:strCache>
            </c:strRef>
          </c:tx>
          <c:spPr>
            <a:ln w="28575" cap="rnd">
              <a:solidFill>
                <a:schemeClr val="bg1">
                  <a:lumMod val="65000"/>
                </a:schemeClr>
              </a:solidFill>
              <a:round/>
            </a:ln>
            <a:effectLst/>
          </c:spPr>
          <c:marker>
            <c:symbol val="none"/>
          </c:marker>
          <c:cat>
            <c:numRef>
              <c:f>APIM!$A$9:$A$29</c:f>
              <c:numCache>
                <c:formatCode>General</c:formatCode>
                <c:ptCount val="21"/>
                <c:pt idx="0">
                  <c:v>1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18</c:v>
                </c:pt>
                <c:pt idx="12">
                  <c:v>19</c:v>
                </c:pt>
                <c:pt idx="13">
                  <c:v>21</c:v>
                </c:pt>
                <c:pt idx="14">
                  <c:v>22</c:v>
                </c:pt>
                <c:pt idx="15">
                  <c:v>25</c:v>
                </c:pt>
                <c:pt idx="16">
                  <c:v>26</c:v>
                </c:pt>
                <c:pt idx="17">
                  <c:v>27</c:v>
                </c:pt>
                <c:pt idx="18">
                  <c:v>28</c:v>
                </c:pt>
                <c:pt idx="19">
                  <c:v>29</c:v>
                </c:pt>
              </c:numCache>
            </c:numRef>
          </c:cat>
          <c:val>
            <c:numRef>
              <c:f>APIM!$D$9:$D$31</c:f>
              <c:numCache>
                <c:formatCode>_-* #\ ##0\ _F_t_-;\-* #\ ##0\ _F_t_-;_-* "-"??\ _F_t_-;_-@_-</c:formatCode>
                <c:ptCount val="23"/>
                <c:pt idx="0">
                  <c:v>580</c:v>
                </c:pt>
                <c:pt idx="1">
                  <c:v>1160</c:v>
                </c:pt>
                <c:pt idx="2">
                  <c:v>1740</c:v>
                </c:pt>
                <c:pt idx="3">
                  <c:v>2320</c:v>
                </c:pt>
                <c:pt idx="4">
                  <c:v>2900</c:v>
                </c:pt>
                <c:pt idx="5">
                  <c:v>3480</c:v>
                </c:pt>
                <c:pt idx="6">
                  <c:v>4060</c:v>
                </c:pt>
                <c:pt idx="7">
                  <c:v>4640</c:v>
                </c:pt>
                <c:pt idx="8">
                  <c:v>5220</c:v>
                </c:pt>
                <c:pt idx="9">
                  <c:v>5800</c:v>
                </c:pt>
                <c:pt idx="10">
                  <c:v>6380</c:v>
                </c:pt>
                <c:pt idx="11">
                  <c:v>6960</c:v>
                </c:pt>
                <c:pt idx="12">
                  <c:v>7540</c:v>
                </c:pt>
                <c:pt idx="13">
                  <c:v>8120</c:v>
                </c:pt>
                <c:pt idx="14">
                  <c:v>8700</c:v>
                </c:pt>
                <c:pt idx="15">
                  <c:v>9280</c:v>
                </c:pt>
                <c:pt idx="16">
                  <c:v>9860</c:v>
                </c:pt>
                <c:pt idx="17">
                  <c:v>10440</c:v>
                </c:pt>
                <c:pt idx="18">
                  <c:v>11020</c:v>
                </c:pt>
                <c:pt idx="19">
                  <c:v>11600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939C-4408-8830-B41E472329D4}"/>
            </c:ext>
          </c:extLst>
        </c:ser>
        <c:ser>
          <c:idx val="3"/>
          <c:order val="1"/>
          <c:tx>
            <c:strRef>
              <c:f>APIM!$E$8</c:f>
              <c:strCache>
                <c:ptCount val="1"/>
                <c:pt idx="0">
                  <c:v>Kimenet (Kumulált) / Output (cumulative)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APIM!$A$9:$A$29</c:f>
              <c:numCache>
                <c:formatCode>General</c:formatCode>
                <c:ptCount val="21"/>
                <c:pt idx="0">
                  <c:v>1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18</c:v>
                </c:pt>
                <c:pt idx="12">
                  <c:v>19</c:v>
                </c:pt>
                <c:pt idx="13">
                  <c:v>21</c:v>
                </c:pt>
                <c:pt idx="14">
                  <c:v>22</c:v>
                </c:pt>
                <c:pt idx="15">
                  <c:v>25</c:v>
                </c:pt>
                <c:pt idx="16">
                  <c:v>26</c:v>
                </c:pt>
                <c:pt idx="17">
                  <c:v>27</c:v>
                </c:pt>
                <c:pt idx="18">
                  <c:v>28</c:v>
                </c:pt>
                <c:pt idx="19">
                  <c:v>29</c:v>
                </c:pt>
              </c:numCache>
            </c:numRef>
          </c:cat>
          <c:val>
            <c:numRef>
              <c:f>APIM!$E$9:$E$29</c:f>
              <c:numCache>
                <c:formatCode>_-* #\ ##0\ _F_t_-;\-* #\ ##0\ _F_t_-;_-* "-"??\ _F_t_-;_-@_-</c:formatCode>
                <c:ptCount val="21"/>
                <c:pt idx="0">
                  <c:v>1395</c:v>
                </c:pt>
                <c:pt idx="1">
                  <c:v>1395</c:v>
                </c:pt>
                <c:pt idx="2">
                  <c:v>1395</c:v>
                </c:pt>
                <c:pt idx="3">
                  <c:v>1395</c:v>
                </c:pt>
                <c:pt idx="4">
                  <c:v>1395</c:v>
                </c:pt>
                <c:pt idx="5">
                  <c:v>1395</c:v>
                </c:pt>
                <c:pt idx="6">
                  <c:v>1395</c:v>
                </c:pt>
                <c:pt idx="7">
                  <c:v>1395</c:v>
                </c:pt>
                <c:pt idx="8">
                  <c:v>1395</c:v>
                </c:pt>
                <c:pt idx="9">
                  <c:v>1395</c:v>
                </c:pt>
                <c:pt idx="10">
                  <c:v>1395</c:v>
                </c:pt>
                <c:pt idx="11">
                  <c:v>1395</c:v>
                </c:pt>
                <c:pt idx="12">
                  <c:v>1395</c:v>
                </c:pt>
                <c:pt idx="13">
                  <c:v>1395</c:v>
                </c:pt>
                <c:pt idx="14">
                  <c:v>1395</c:v>
                </c:pt>
                <c:pt idx="15">
                  <c:v>1395</c:v>
                </c:pt>
                <c:pt idx="16">
                  <c:v>1395</c:v>
                </c:pt>
                <c:pt idx="17">
                  <c:v>1395</c:v>
                </c:pt>
                <c:pt idx="18">
                  <c:v>1395</c:v>
                </c:pt>
                <c:pt idx="19">
                  <c:v>1395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939C-4408-8830-B41E472329D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73135848"/>
        <c:axId val="473136240"/>
      </c:lineChart>
      <c:catAx>
        <c:axId val="473133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  <c:crossAx val="473134280"/>
        <c:crosses val="autoZero"/>
        <c:auto val="1"/>
        <c:lblAlgn val="ctr"/>
        <c:lblOffset val="100"/>
        <c:noMultiLvlLbl val="0"/>
      </c:catAx>
      <c:valAx>
        <c:axId val="4731342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* #\ ##0\ _F_t_-;\-* #\ ##0\ _F_t_-;_-* &quot;-&quot;??\ _F_t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  <c:crossAx val="473133888"/>
        <c:crosses val="autoZero"/>
        <c:crossBetween val="between"/>
      </c:valAx>
      <c:valAx>
        <c:axId val="473136240"/>
        <c:scaling>
          <c:orientation val="minMax"/>
        </c:scaling>
        <c:delete val="0"/>
        <c:axPos val="r"/>
        <c:numFmt formatCode="_-* #\ ##0\ _F_t_-;\-* #\ ##0\ _F_t_-;_-* &quot;-&quot;??\ _F_t_-;_-@_-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  <c:crossAx val="473135848"/>
        <c:crosses val="max"/>
        <c:crossBetween val="between"/>
      </c:valAx>
      <c:catAx>
        <c:axId val="47313584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7313624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u-H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2"/>
      </a:solidFill>
    </a:ln>
    <a:effectLst/>
  </c:spPr>
  <c:txPr>
    <a:bodyPr/>
    <a:lstStyle/>
    <a:p>
      <a:pPr>
        <a:defRPr/>
      </a:pPr>
      <a:endParaRPr lang="hu-HU"/>
    </a:p>
  </c:txPr>
  <c:externalData r:id="rId3">
    <c:autoUpdate val="1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hu-HU"/>
              <a:t>APIM hatékonyság / APIM efficiency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u-HU"/>
        </a:p>
      </c:txPr>
    </c:title>
    <c:autoTitleDeleted val="0"/>
    <c:plotArea>
      <c:layout/>
      <c:barChart>
        <c:barDir val="col"/>
        <c:grouping val="clustered"/>
        <c:varyColors val="0"/>
        <c:ser>
          <c:idx val="2"/>
          <c:order val="2"/>
          <c:tx>
            <c:strRef>
              <c:f>APIM!$T$8</c:f>
              <c:strCache>
                <c:ptCount val="1"/>
                <c:pt idx="0">
                  <c:v>Hatékonyság / Efficiency</c:v>
                </c:pt>
              </c:strCache>
            </c:strRef>
          </c:tx>
          <c:spPr>
            <a:solidFill>
              <a:srgbClr val="0070C0"/>
            </a:solidFill>
            <a:ln>
              <a:solidFill>
                <a:srgbClr val="0070C0"/>
              </a:solidFill>
            </a:ln>
            <a:effectLst/>
          </c:spPr>
          <c:invertIfNegative val="0"/>
          <c:cat>
            <c:numRef>
              <c:f>APIM!$A$9:$A$31</c:f>
              <c:numCache>
                <c:formatCode>General</c:formatCode>
                <c:ptCount val="23"/>
                <c:pt idx="0">
                  <c:v>1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18</c:v>
                </c:pt>
                <c:pt idx="12">
                  <c:v>19</c:v>
                </c:pt>
                <c:pt idx="13">
                  <c:v>21</c:v>
                </c:pt>
                <c:pt idx="14">
                  <c:v>22</c:v>
                </c:pt>
                <c:pt idx="15">
                  <c:v>25</c:v>
                </c:pt>
                <c:pt idx="16">
                  <c:v>26</c:v>
                </c:pt>
                <c:pt idx="17">
                  <c:v>27</c:v>
                </c:pt>
                <c:pt idx="18">
                  <c:v>28</c:v>
                </c:pt>
                <c:pt idx="19">
                  <c:v>29</c:v>
                </c:pt>
              </c:numCache>
            </c:numRef>
          </c:cat>
          <c:val>
            <c:numRef>
              <c:f>APIM!$T$9:$T$30</c:f>
              <c:numCache>
                <c:formatCode>0.00%</c:formatCode>
                <c:ptCount val="22"/>
                <c:pt idx="0">
                  <c:v>1.03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21-49DD-8588-71F4C4934A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73140160"/>
        <c:axId val="473133496"/>
      </c:barChart>
      <c:lineChart>
        <c:grouping val="standard"/>
        <c:varyColors val="0"/>
        <c:ser>
          <c:idx val="0"/>
          <c:order val="0"/>
          <c:tx>
            <c:strRef>
              <c:f>APIM!$R$8</c:f>
              <c:strCache>
                <c:ptCount val="1"/>
                <c:pt idx="0">
                  <c:v>Cél / Target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numRef>
              <c:f>APIM!$A$9:$A$31</c:f>
              <c:numCache>
                <c:formatCode>General</c:formatCode>
                <c:ptCount val="23"/>
                <c:pt idx="0">
                  <c:v>1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18</c:v>
                </c:pt>
                <c:pt idx="12">
                  <c:v>19</c:v>
                </c:pt>
                <c:pt idx="13">
                  <c:v>21</c:v>
                </c:pt>
                <c:pt idx="14">
                  <c:v>22</c:v>
                </c:pt>
                <c:pt idx="15">
                  <c:v>25</c:v>
                </c:pt>
                <c:pt idx="16">
                  <c:v>26</c:v>
                </c:pt>
                <c:pt idx="17">
                  <c:v>27</c:v>
                </c:pt>
                <c:pt idx="18">
                  <c:v>28</c:v>
                </c:pt>
                <c:pt idx="19">
                  <c:v>29</c:v>
                </c:pt>
              </c:numCache>
            </c:numRef>
          </c:cat>
          <c:val>
            <c:numRef>
              <c:f>APIM!$R$9:$R$29</c:f>
              <c:numCache>
                <c:formatCode>0%</c:formatCode>
                <c:ptCount val="21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021-49DD-8588-71F4C4934A26}"/>
            </c:ext>
          </c:extLst>
        </c:ser>
        <c:ser>
          <c:idx val="1"/>
          <c:order val="1"/>
          <c:tx>
            <c:strRef>
              <c:f>APIM!$S$8</c:f>
              <c:strCache>
                <c:ptCount val="1"/>
                <c:pt idx="0">
                  <c:v>Hatékonyság (kumulált) / Efficiency (cumulative)</c:v>
                </c:pt>
              </c:strCache>
            </c:strRef>
          </c:tx>
          <c:spPr>
            <a:ln w="28575" cap="rnd">
              <a:solidFill>
                <a:srgbClr val="FFC000"/>
              </a:solidFill>
              <a:round/>
            </a:ln>
            <a:effectLst/>
          </c:spPr>
          <c:marker>
            <c:symbol val="none"/>
          </c:marker>
          <c:cat>
            <c:numRef>
              <c:f>APIM!$A$9:$A$31</c:f>
              <c:numCache>
                <c:formatCode>General</c:formatCode>
                <c:ptCount val="23"/>
                <c:pt idx="0">
                  <c:v>1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18</c:v>
                </c:pt>
                <c:pt idx="12">
                  <c:v>19</c:v>
                </c:pt>
                <c:pt idx="13">
                  <c:v>21</c:v>
                </c:pt>
                <c:pt idx="14">
                  <c:v>22</c:v>
                </c:pt>
                <c:pt idx="15">
                  <c:v>25</c:v>
                </c:pt>
                <c:pt idx="16">
                  <c:v>26</c:v>
                </c:pt>
                <c:pt idx="17">
                  <c:v>27</c:v>
                </c:pt>
                <c:pt idx="18">
                  <c:v>28</c:v>
                </c:pt>
                <c:pt idx="19">
                  <c:v>29</c:v>
                </c:pt>
              </c:numCache>
            </c:numRef>
          </c:cat>
          <c:val>
            <c:numRef>
              <c:f>APIM!$S$9:$S$31</c:f>
              <c:numCache>
                <c:formatCode>0.00%</c:formatCode>
                <c:ptCount val="23"/>
                <c:pt idx="0">
                  <c:v>1.03</c:v>
                </c:pt>
                <c:pt idx="1">
                  <c:v>1.03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7021-49DD-8588-71F4C4934A2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73140160"/>
        <c:axId val="473133496"/>
      </c:lineChart>
      <c:catAx>
        <c:axId val="4731401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  <c:crossAx val="473133496"/>
        <c:crosses val="autoZero"/>
        <c:auto val="1"/>
        <c:lblAlgn val="ctr"/>
        <c:lblOffset val="100"/>
        <c:noMultiLvlLbl val="0"/>
      </c:catAx>
      <c:valAx>
        <c:axId val="4731334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  <c:crossAx val="4731401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u-H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2"/>
      </a:solidFill>
    </a:ln>
    <a:effectLst/>
  </c:spPr>
  <c:txPr>
    <a:bodyPr/>
    <a:lstStyle/>
    <a:p>
      <a:pPr>
        <a:defRPr/>
      </a:pPr>
      <a:endParaRPr lang="hu-HU"/>
    </a:p>
  </c:txPr>
  <c:externalData r:id="rId3">
    <c:autoUpdate val="1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hu-HU" baseline="0"/>
              <a:t>APIM </a:t>
            </a:r>
            <a:r>
              <a:rPr lang="hu-HU"/>
              <a:t>Működési</a:t>
            </a:r>
            <a:r>
              <a:rPr lang="hu-HU" baseline="0"/>
              <a:t> idő</a:t>
            </a:r>
            <a:r>
              <a:rPr lang="hu-HU"/>
              <a:t> / APIM Operation hours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u-HU"/>
        </a:p>
      </c:txPr>
    </c:title>
    <c:autoTitleDeleted val="0"/>
    <c:plotArea>
      <c:layout/>
      <c:barChart>
        <c:barDir val="col"/>
        <c:grouping val="clustered"/>
        <c:varyColors val="0"/>
        <c:ser>
          <c:idx val="2"/>
          <c:order val="1"/>
          <c:tx>
            <c:strRef>
              <c:f>APIM!$O$8</c:f>
              <c:strCache>
                <c:ptCount val="1"/>
                <c:pt idx="0">
                  <c:v>Operating hours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APIM!$A$9:$A$32</c:f>
              <c:numCache>
                <c:formatCode>General</c:formatCode>
                <c:ptCount val="24"/>
                <c:pt idx="0">
                  <c:v>1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18</c:v>
                </c:pt>
                <c:pt idx="12">
                  <c:v>19</c:v>
                </c:pt>
                <c:pt idx="13">
                  <c:v>21</c:v>
                </c:pt>
                <c:pt idx="14">
                  <c:v>22</c:v>
                </c:pt>
                <c:pt idx="15">
                  <c:v>25</c:v>
                </c:pt>
                <c:pt idx="16">
                  <c:v>26</c:v>
                </c:pt>
                <c:pt idx="17">
                  <c:v>27</c:v>
                </c:pt>
                <c:pt idx="18">
                  <c:v>28</c:v>
                </c:pt>
                <c:pt idx="19">
                  <c:v>29</c:v>
                </c:pt>
              </c:numCache>
            </c:numRef>
          </c:cat>
          <c:val>
            <c:numRef>
              <c:f>APIM!$O$9:$O$32</c:f>
              <c:numCache>
                <c:formatCode>General</c:formatCode>
                <c:ptCount val="24"/>
                <c:pt idx="0">
                  <c:v>6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D92-412F-B101-4F4D5BE2E7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71599336"/>
        <c:axId val="471596200"/>
      </c:barChart>
      <c:lineChart>
        <c:grouping val="standard"/>
        <c:varyColors val="0"/>
        <c:ser>
          <c:idx val="0"/>
          <c:order val="0"/>
          <c:tx>
            <c:strRef>
              <c:f>APIM!$P$8</c:f>
              <c:strCache>
                <c:ptCount val="1"/>
                <c:pt idx="0">
                  <c:v>Operation hours target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numRef>
              <c:f>APIM!$A$9:$A$32</c:f>
              <c:numCache>
                <c:formatCode>General</c:formatCode>
                <c:ptCount val="24"/>
                <c:pt idx="0">
                  <c:v>1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18</c:v>
                </c:pt>
                <c:pt idx="12">
                  <c:v>19</c:v>
                </c:pt>
                <c:pt idx="13">
                  <c:v>21</c:v>
                </c:pt>
                <c:pt idx="14">
                  <c:v>22</c:v>
                </c:pt>
                <c:pt idx="15">
                  <c:v>25</c:v>
                </c:pt>
                <c:pt idx="16">
                  <c:v>26</c:v>
                </c:pt>
                <c:pt idx="17">
                  <c:v>27</c:v>
                </c:pt>
                <c:pt idx="18">
                  <c:v>28</c:v>
                </c:pt>
                <c:pt idx="19">
                  <c:v>29</c:v>
                </c:pt>
              </c:numCache>
            </c:numRef>
          </c:cat>
          <c:val>
            <c:numRef>
              <c:f>APIM!$P$9:$P$32</c:f>
              <c:numCache>
                <c:formatCode>General</c:formatCode>
                <c:ptCount val="24"/>
                <c:pt idx="0">
                  <c:v>16</c:v>
                </c:pt>
                <c:pt idx="1">
                  <c:v>16</c:v>
                </c:pt>
                <c:pt idx="2">
                  <c:v>16</c:v>
                </c:pt>
                <c:pt idx="3">
                  <c:v>16</c:v>
                </c:pt>
                <c:pt idx="4">
                  <c:v>16</c:v>
                </c:pt>
                <c:pt idx="5">
                  <c:v>16</c:v>
                </c:pt>
                <c:pt idx="6">
                  <c:v>16</c:v>
                </c:pt>
                <c:pt idx="7">
                  <c:v>16</c:v>
                </c:pt>
                <c:pt idx="8">
                  <c:v>16</c:v>
                </c:pt>
                <c:pt idx="9">
                  <c:v>16</c:v>
                </c:pt>
                <c:pt idx="10">
                  <c:v>16</c:v>
                </c:pt>
                <c:pt idx="11">
                  <c:v>16</c:v>
                </c:pt>
                <c:pt idx="12">
                  <c:v>16</c:v>
                </c:pt>
                <c:pt idx="13">
                  <c:v>16</c:v>
                </c:pt>
                <c:pt idx="14">
                  <c:v>16</c:v>
                </c:pt>
                <c:pt idx="15">
                  <c:v>16</c:v>
                </c:pt>
                <c:pt idx="16">
                  <c:v>16</c:v>
                </c:pt>
                <c:pt idx="17">
                  <c:v>16</c:v>
                </c:pt>
                <c:pt idx="18">
                  <c:v>16</c:v>
                </c:pt>
                <c:pt idx="19">
                  <c:v>16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D92-412F-B101-4F4D5BE2E7DF}"/>
            </c:ext>
          </c:extLst>
        </c:ser>
        <c:ser>
          <c:idx val="1"/>
          <c:order val="2"/>
          <c:tx>
            <c:strRef>
              <c:f>APIM!$Q$8</c:f>
              <c:strCache>
                <c:ptCount val="1"/>
                <c:pt idx="0">
                  <c:v>Daily opeation hours plan target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APIM!$A$9:$A$32</c:f>
              <c:numCache>
                <c:formatCode>General</c:formatCode>
                <c:ptCount val="24"/>
                <c:pt idx="0">
                  <c:v>1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18</c:v>
                </c:pt>
                <c:pt idx="12">
                  <c:v>19</c:v>
                </c:pt>
                <c:pt idx="13">
                  <c:v>21</c:v>
                </c:pt>
                <c:pt idx="14">
                  <c:v>22</c:v>
                </c:pt>
                <c:pt idx="15">
                  <c:v>25</c:v>
                </c:pt>
                <c:pt idx="16">
                  <c:v>26</c:v>
                </c:pt>
                <c:pt idx="17">
                  <c:v>27</c:v>
                </c:pt>
                <c:pt idx="18">
                  <c:v>28</c:v>
                </c:pt>
                <c:pt idx="19">
                  <c:v>29</c:v>
                </c:pt>
              </c:numCache>
            </c:numRef>
          </c:cat>
          <c:val>
            <c:numRef>
              <c:f>APIM!$Q$9:$Q$32</c:f>
              <c:numCache>
                <c:formatCode>0.0</c:formatCode>
                <c:ptCount val="24"/>
                <c:pt idx="0">
                  <c:v>1.1599999999999999</c:v>
                </c:pt>
                <c:pt idx="1">
                  <c:v>1.1599999999999999</c:v>
                </c:pt>
                <c:pt idx="2">
                  <c:v>1.1599999999999999</c:v>
                </c:pt>
                <c:pt idx="3">
                  <c:v>1.1599999999999999</c:v>
                </c:pt>
                <c:pt idx="4">
                  <c:v>1.1599999999999999</c:v>
                </c:pt>
                <c:pt idx="5">
                  <c:v>1.1599999999999999</c:v>
                </c:pt>
                <c:pt idx="6">
                  <c:v>1.1599999999999999</c:v>
                </c:pt>
                <c:pt idx="7">
                  <c:v>1.1599999999999999</c:v>
                </c:pt>
                <c:pt idx="8">
                  <c:v>1.1599999999999999</c:v>
                </c:pt>
                <c:pt idx="9">
                  <c:v>1.1599999999999999</c:v>
                </c:pt>
                <c:pt idx="10">
                  <c:v>1.1599999999999999</c:v>
                </c:pt>
                <c:pt idx="11">
                  <c:v>1.1599999999999999</c:v>
                </c:pt>
                <c:pt idx="12">
                  <c:v>1.1599999999999999</c:v>
                </c:pt>
                <c:pt idx="13">
                  <c:v>1.1599999999999999</c:v>
                </c:pt>
                <c:pt idx="14">
                  <c:v>1.1599999999999999</c:v>
                </c:pt>
                <c:pt idx="15">
                  <c:v>1.1599999999999999</c:v>
                </c:pt>
                <c:pt idx="16">
                  <c:v>1.1599999999999999</c:v>
                </c:pt>
                <c:pt idx="17">
                  <c:v>1.1599999999999999</c:v>
                </c:pt>
                <c:pt idx="18">
                  <c:v>1.1599999999999999</c:v>
                </c:pt>
                <c:pt idx="19">
                  <c:v>1.1599999999999999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D92-412F-B101-4F4D5BE2E7D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71599336"/>
        <c:axId val="471596200"/>
      </c:lineChart>
      <c:catAx>
        <c:axId val="471599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  <c:crossAx val="471596200"/>
        <c:crosses val="autoZero"/>
        <c:auto val="1"/>
        <c:lblAlgn val="ctr"/>
        <c:lblOffset val="100"/>
        <c:noMultiLvlLbl val="0"/>
      </c:catAx>
      <c:valAx>
        <c:axId val="4715962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  <c:crossAx val="4715993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u-H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2"/>
      </a:solidFill>
    </a:ln>
    <a:effectLst/>
  </c:spPr>
  <c:txPr>
    <a:bodyPr/>
    <a:lstStyle/>
    <a:p>
      <a:pPr>
        <a:defRPr/>
      </a:pPr>
      <a:endParaRPr lang="hu-HU"/>
    </a:p>
  </c:txPr>
  <c:externalData r:id="rId3">
    <c:autoUpdate val="1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hu-HU"/>
              <a:t>SS Autohajlító</a:t>
            </a:r>
            <a:r>
              <a:rPr lang="hu-HU" baseline="0"/>
              <a:t> </a:t>
            </a:r>
            <a:r>
              <a:rPr lang="hu-HU"/>
              <a:t>kimenet nyomonkövetés / SS Autobending output</a:t>
            </a:r>
            <a:r>
              <a:rPr lang="hu-HU" baseline="0"/>
              <a:t> follow up</a:t>
            </a:r>
            <a:endParaRPr lang="hu-HU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u-HU"/>
        </a:p>
      </c:txPr>
    </c:title>
    <c:autoTitleDeleted val="0"/>
    <c:plotArea>
      <c:layout>
        <c:manualLayout>
          <c:layoutTarget val="inner"/>
          <c:xMode val="edge"/>
          <c:yMode val="edge"/>
          <c:x val="6.9209326249929912E-2"/>
          <c:y val="0.10154688569472965"/>
          <c:w val="0.83639350876803353"/>
          <c:h val="0.77231105865360261"/>
        </c:manualLayout>
      </c:layout>
      <c:barChart>
        <c:barDir val="col"/>
        <c:grouping val="clustered"/>
        <c:varyColors val="0"/>
        <c:ser>
          <c:idx val="4"/>
          <c:order val="2"/>
          <c:tx>
            <c:strRef>
              <c:f>'SS Auto Bending'!$F$8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chemeClr val="accent5"/>
            </a:solidFill>
            <a:ln>
              <a:noFill/>
            </a:ln>
            <a:effectLst/>
          </c:spPr>
          <c:invertIfNegative val="0"/>
          <c:cat>
            <c:numRef>
              <c:f>APIM!$A$9:$A$31</c:f>
              <c:numCache>
                <c:formatCode>General</c:formatCode>
                <c:ptCount val="23"/>
                <c:pt idx="0">
                  <c:v>1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18</c:v>
                </c:pt>
                <c:pt idx="12">
                  <c:v>19</c:v>
                </c:pt>
                <c:pt idx="13">
                  <c:v>21</c:v>
                </c:pt>
                <c:pt idx="14">
                  <c:v>22</c:v>
                </c:pt>
                <c:pt idx="15">
                  <c:v>25</c:v>
                </c:pt>
                <c:pt idx="16">
                  <c:v>26</c:v>
                </c:pt>
                <c:pt idx="17">
                  <c:v>27</c:v>
                </c:pt>
                <c:pt idx="18">
                  <c:v>28</c:v>
                </c:pt>
                <c:pt idx="19">
                  <c:v>29</c:v>
                </c:pt>
              </c:numCache>
            </c:numRef>
          </c:cat>
          <c:val>
            <c:numRef>
              <c:f>'SS Auto Bending'!$F$9:$F$32</c:f>
              <c:numCache>
                <c:formatCode>_-* #\ ##0\ _F_t_-;\-* #\ ##0\ _F_t_-;_-* "-"??\ _F_t_-;_-@_-</c:formatCode>
                <c:ptCount val="24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2EA-4CB5-8D41-B406D7F5E7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473133888"/>
        <c:axId val="473134280"/>
      </c:barChart>
      <c:lineChart>
        <c:grouping val="standard"/>
        <c:varyColors val="0"/>
        <c:ser>
          <c:idx val="1"/>
          <c:order val="3"/>
          <c:tx>
            <c:strRef>
              <c:f>'SS Auto Bending'!$B$8</c:f>
              <c:strCache>
                <c:ptCount val="1"/>
                <c:pt idx="0">
                  <c:v>Napi terv / Daily plan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numRef>
              <c:f>'SS Auto Bending'!$A$9:$A$31</c:f>
              <c:numCache>
                <c:formatCode>General</c:formatCode>
                <c:ptCount val="23"/>
                <c:pt idx="0">
                  <c:v>1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18</c:v>
                </c:pt>
                <c:pt idx="12">
                  <c:v>19</c:v>
                </c:pt>
                <c:pt idx="13">
                  <c:v>21</c:v>
                </c:pt>
                <c:pt idx="14">
                  <c:v>22</c:v>
                </c:pt>
                <c:pt idx="15">
                  <c:v>25</c:v>
                </c:pt>
                <c:pt idx="16">
                  <c:v>26</c:v>
                </c:pt>
                <c:pt idx="17">
                  <c:v>27</c:v>
                </c:pt>
                <c:pt idx="18">
                  <c:v>28</c:v>
                </c:pt>
                <c:pt idx="19">
                  <c:v>29</c:v>
                </c:pt>
              </c:numCache>
            </c:numRef>
          </c:cat>
          <c:val>
            <c:numRef>
              <c:f>'SS Auto Bending'!$B$9:$B$31</c:f>
              <c:numCache>
                <c:formatCode>0</c:formatCode>
                <c:ptCount val="23"/>
                <c:pt idx="0">
                  <c:v>325</c:v>
                </c:pt>
                <c:pt idx="1">
                  <c:v>325</c:v>
                </c:pt>
                <c:pt idx="2">
                  <c:v>325</c:v>
                </c:pt>
                <c:pt idx="3">
                  <c:v>325</c:v>
                </c:pt>
                <c:pt idx="4">
                  <c:v>325</c:v>
                </c:pt>
                <c:pt idx="5">
                  <c:v>325</c:v>
                </c:pt>
                <c:pt idx="6">
                  <c:v>325</c:v>
                </c:pt>
                <c:pt idx="7">
                  <c:v>325</c:v>
                </c:pt>
                <c:pt idx="8">
                  <c:v>325</c:v>
                </c:pt>
                <c:pt idx="9">
                  <c:v>325</c:v>
                </c:pt>
                <c:pt idx="10">
                  <c:v>325</c:v>
                </c:pt>
                <c:pt idx="11">
                  <c:v>325</c:v>
                </c:pt>
                <c:pt idx="12">
                  <c:v>325</c:v>
                </c:pt>
                <c:pt idx="13">
                  <c:v>325</c:v>
                </c:pt>
                <c:pt idx="14">
                  <c:v>325</c:v>
                </c:pt>
                <c:pt idx="15">
                  <c:v>325</c:v>
                </c:pt>
                <c:pt idx="16">
                  <c:v>325</c:v>
                </c:pt>
                <c:pt idx="17">
                  <c:v>325</c:v>
                </c:pt>
                <c:pt idx="18">
                  <c:v>325</c:v>
                </c:pt>
                <c:pt idx="19">
                  <c:v>325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2EA-4CB5-8D41-B406D7F5E7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73133888"/>
        <c:axId val="473134280"/>
      </c:lineChart>
      <c:lineChart>
        <c:grouping val="standard"/>
        <c:varyColors val="0"/>
        <c:ser>
          <c:idx val="2"/>
          <c:order val="0"/>
          <c:tx>
            <c:strRef>
              <c:f>'SS Auto Bending'!$D$8</c:f>
              <c:strCache>
                <c:ptCount val="1"/>
                <c:pt idx="0">
                  <c:v>Komulált terv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numRef>
              <c:f>'SS Auto Bending'!$A$9:$A$29</c:f>
              <c:numCache>
                <c:formatCode>General</c:formatCode>
                <c:ptCount val="21"/>
                <c:pt idx="0">
                  <c:v>1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18</c:v>
                </c:pt>
                <c:pt idx="12">
                  <c:v>19</c:v>
                </c:pt>
                <c:pt idx="13">
                  <c:v>21</c:v>
                </c:pt>
                <c:pt idx="14">
                  <c:v>22</c:v>
                </c:pt>
                <c:pt idx="15">
                  <c:v>25</c:v>
                </c:pt>
                <c:pt idx="16">
                  <c:v>26</c:v>
                </c:pt>
                <c:pt idx="17">
                  <c:v>27</c:v>
                </c:pt>
                <c:pt idx="18">
                  <c:v>28</c:v>
                </c:pt>
                <c:pt idx="19">
                  <c:v>29</c:v>
                </c:pt>
              </c:numCache>
            </c:numRef>
          </c:cat>
          <c:val>
            <c:numRef>
              <c:f>'SS Auto Bending'!$D$9:$D$31</c:f>
              <c:numCache>
                <c:formatCode>_-* #\ ##0\ _F_t_-;\-* #\ ##0\ _F_t_-;_-* "-"??\ _F_t_-;_-@_-</c:formatCode>
                <c:ptCount val="23"/>
                <c:pt idx="0">
                  <c:v>325</c:v>
                </c:pt>
                <c:pt idx="1">
                  <c:v>650</c:v>
                </c:pt>
                <c:pt idx="2">
                  <c:v>975</c:v>
                </c:pt>
                <c:pt idx="3">
                  <c:v>1300</c:v>
                </c:pt>
                <c:pt idx="4">
                  <c:v>1625</c:v>
                </c:pt>
                <c:pt idx="5">
                  <c:v>1950</c:v>
                </c:pt>
                <c:pt idx="6">
                  <c:v>2275</c:v>
                </c:pt>
                <c:pt idx="7">
                  <c:v>2600</c:v>
                </c:pt>
                <c:pt idx="8">
                  <c:v>2925</c:v>
                </c:pt>
                <c:pt idx="9">
                  <c:v>3250</c:v>
                </c:pt>
                <c:pt idx="10">
                  <c:v>3575</c:v>
                </c:pt>
                <c:pt idx="11">
                  <c:v>3900</c:v>
                </c:pt>
                <c:pt idx="12">
                  <c:v>4225</c:v>
                </c:pt>
                <c:pt idx="13">
                  <c:v>4550</c:v>
                </c:pt>
                <c:pt idx="14">
                  <c:v>4875</c:v>
                </c:pt>
                <c:pt idx="15">
                  <c:v>5200</c:v>
                </c:pt>
                <c:pt idx="16">
                  <c:v>5525</c:v>
                </c:pt>
                <c:pt idx="17">
                  <c:v>5850</c:v>
                </c:pt>
                <c:pt idx="18">
                  <c:v>6175</c:v>
                </c:pt>
                <c:pt idx="19">
                  <c:v>6500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82EA-4CB5-8D41-B406D7F5E7CA}"/>
            </c:ext>
          </c:extLst>
        </c:ser>
        <c:ser>
          <c:idx val="3"/>
          <c:order val="1"/>
          <c:tx>
            <c:strRef>
              <c:f>'SS Auto Bending'!$E$8</c:f>
              <c:strCache>
                <c:ptCount val="1"/>
                <c:pt idx="0">
                  <c:v>Kimenet (Komulált)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none"/>
          </c:marker>
          <c:cat>
            <c:numRef>
              <c:f>'SS Auto Bending'!$A$9:$A$29</c:f>
              <c:numCache>
                <c:formatCode>General</c:formatCode>
                <c:ptCount val="21"/>
                <c:pt idx="0">
                  <c:v>1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18</c:v>
                </c:pt>
                <c:pt idx="12">
                  <c:v>19</c:v>
                </c:pt>
                <c:pt idx="13">
                  <c:v>21</c:v>
                </c:pt>
                <c:pt idx="14">
                  <c:v>22</c:v>
                </c:pt>
                <c:pt idx="15">
                  <c:v>25</c:v>
                </c:pt>
                <c:pt idx="16">
                  <c:v>26</c:v>
                </c:pt>
                <c:pt idx="17">
                  <c:v>27</c:v>
                </c:pt>
                <c:pt idx="18">
                  <c:v>28</c:v>
                </c:pt>
                <c:pt idx="19">
                  <c:v>29</c:v>
                </c:pt>
              </c:numCache>
            </c:numRef>
          </c:cat>
          <c:val>
            <c:numRef>
              <c:f>'SS Auto Bending'!$E$9:$E$29</c:f>
              <c:numCache>
                <c:formatCode>_-* #\ ##0\ _F_t_-;\-* #\ ##0\ _F_t_-;_-* "-"??\ _F_t_-;_-@_-</c:formatCode>
                <c:ptCount val="21"/>
                <c:pt idx="0">
                  <c:v>1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82EA-4CB5-8D41-B406D7F5E7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73135848"/>
        <c:axId val="473136240"/>
      </c:lineChart>
      <c:catAx>
        <c:axId val="473133888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  <c:crossAx val="473134280"/>
        <c:crosses val="autoZero"/>
        <c:auto val="1"/>
        <c:lblAlgn val="ctr"/>
        <c:lblOffset val="100"/>
        <c:noMultiLvlLbl val="0"/>
      </c:catAx>
      <c:valAx>
        <c:axId val="4731342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* #\ ##0\ _F_t_-;\-* #\ ##0\ _F_t_-;_-* &quot;-&quot;??\ _F_t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  <c:crossAx val="473133888"/>
        <c:crosses val="autoZero"/>
        <c:crossBetween val="between"/>
      </c:valAx>
      <c:valAx>
        <c:axId val="473136240"/>
        <c:scaling>
          <c:orientation val="minMax"/>
        </c:scaling>
        <c:delete val="0"/>
        <c:axPos val="r"/>
        <c:numFmt formatCode="_-* #\ ##0\ _F_t_-;\-* #\ ##0\ _F_t_-;_-* &quot;-&quot;??\ _F_t_-;_-@_-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  <c:crossAx val="473135848"/>
        <c:crosses val="max"/>
        <c:crossBetween val="between"/>
      </c:valAx>
      <c:catAx>
        <c:axId val="473135848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7313624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u-H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2"/>
      </a:solidFill>
    </a:ln>
    <a:effectLst/>
  </c:spPr>
  <c:txPr>
    <a:bodyPr/>
    <a:lstStyle/>
    <a:p>
      <a:pPr>
        <a:defRPr/>
      </a:pPr>
      <a:endParaRPr lang="hu-HU"/>
    </a:p>
  </c:txPr>
  <c:externalData r:id="rId3">
    <c:autoUpdate val="1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hu-HU"/>
              <a:t>SS</a:t>
            </a:r>
            <a:r>
              <a:rPr lang="hu-HU" baseline="0"/>
              <a:t> Autohajlító</a:t>
            </a:r>
            <a:r>
              <a:rPr lang="hu-HU"/>
              <a:t> hatékonyság / SS</a:t>
            </a:r>
            <a:r>
              <a:rPr lang="hu-HU" baseline="0"/>
              <a:t> Autobending</a:t>
            </a:r>
            <a:r>
              <a:rPr lang="hu-HU"/>
              <a:t> efficiency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u-HU"/>
        </a:p>
      </c:txPr>
    </c:title>
    <c:autoTitleDeleted val="0"/>
    <c:plotArea>
      <c:layout/>
      <c:barChart>
        <c:barDir val="col"/>
        <c:grouping val="clustered"/>
        <c:varyColors val="0"/>
        <c:ser>
          <c:idx val="2"/>
          <c:order val="2"/>
          <c:tx>
            <c:strRef>
              <c:f>'SS Auto Bending'!$U$8</c:f>
              <c:strCache>
                <c:ptCount val="1"/>
                <c:pt idx="0">
                  <c:v>Efficiency</c:v>
                </c:pt>
              </c:strCache>
            </c:strRef>
          </c:tx>
          <c:spPr>
            <a:solidFill>
              <a:schemeClr val="accent1"/>
            </a:solidFill>
            <a:ln>
              <a:solidFill>
                <a:schemeClr val="accent1"/>
              </a:solidFill>
            </a:ln>
            <a:effectLst/>
          </c:spPr>
          <c:invertIfNegative val="0"/>
          <c:cat>
            <c:numRef>
              <c:f>'SS Auto Bending'!$A$9:$A$31</c:f>
              <c:numCache>
                <c:formatCode>General</c:formatCode>
                <c:ptCount val="23"/>
                <c:pt idx="0">
                  <c:v>1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18</c:v>
                </c:pt>
                <c:pt idx="12">
                  <c:v>19</c:v>
                </c:pt>
                <c:pt idx="13">
                  <c:v>21</c:v>
                </c:pt>
                <c:pt idx="14">
                  <c:v>22</c:v>
                </c:pt>
                <c:pt idx="15">
                  <c:v>25</c:v>
                </c:pt>
                <c:pt idx="16">
                  <c:v>26</c:v>
                </c:pt>
                <c:pt idx="17">
                  <c:v>27</c:v>
                </c:pt>
                <c:pt idx="18">
                  <c:v>28</c:v>
                </c:pt>
                <c:pt idx="19">
                  <c:v>29</c:v>
                </c:pt>
              </c:numCache>
            </c:numRef>
          </c:cat>
          <c:val>
            <c:numRef>
              <c:f>'SS Auto Bending'!$U$9:$U$32</c:f>
              <c:numCache>
                <c:formatCode>0.00%</c:formatCode>
                <c:ptCount val="24"/>
                <c:pt idx="0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A9B-44A6-B66B-297D631B44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73140160"/>
        <c:axId val="473133496"/>
      </c:barChart>
      <c:lineChart>
        <c:grouping val="standard"/>
        <c:varyColors val="0"/>
        <c:ser>
          <c:idx val="0"/>
          <c:order val="0"/>
          <c:tx>
            <c:strRef>
              <c:f>'SS Auto Bending'!$S$8</c:f>
              <c:strCache>
                <c:ptCount val="1"/>
                <c:pt idx="0">
                  <c:v>Cél / Target</c:v>
                </c:pt>
              </c:strCache>
            </c:strRef>
          </c:tx>
          <c:spPr>
            <a:ln w="28575" cap="rnd">
              <a:solidFill>
                <a:srgbClr val="92D050"/>
              </a:solidFill>
              <a:round/>
            </a:ln>
            <a:effectLst/>
          </c:spPr>
          <c:marker>
            <c:symbol val="none"/>
          </c:marker>
          <c:cat>
            <c:numRef>
              <c:f>'SS Auto Bending'!$A$9:$A$29</c:f>
              <c:numCache>
                <c:formatCode>General</c:formatCode>
                <c:ptCount val="21"/>
                <c:pt idx="0">
                  <c:v>1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18</c:v>
                </c:pt>
                <c:pt idx="12">
                  <c:v>19</c:v>
                </c:pt>
                <c:pt idx="13">
                  <c:v>21</c:v>
                </c:pt>
                <c:pt idx="14">
                  <c:v>22</c:v>
                </c:pt>
                <c:pt idx="15">
                  <c:v>25</c:v>
                </c:pt>
                <c:pt idx="16">
                  <c:v>26</c:v>
                </c:pt>
                <c:pt idx="17">
                  <c:v>27</c:v>
                </c:pt>
                <c:pt idx="18">
                  <c:v>28</c:v>
                </c:pt>
                <c:pt idx="19">
                  <c:v>29</c:v>
                </c:pt>
              </c:numCache>
            </c:numRef>
          </c:cat>
          <c:val>
            <c:numRef>
              <c:f>'SS Auto Bending'!$S$9:$S$32</c:f>
              <c:numCache>
                <c:formatCode>0%</c:formatCode>
                <c:ptCount val="2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AA9B-44A6-B66B-297D631B4479}"/>
            </c:ext>
          </c:extLst>
        </c:ser>
        <c:ser>
          <c:idx val="1"/>
          <c:order val="1"/>
          <c:tx>
            <c:strRef>
              <c:f>'SS Auto Bending'!$T$8</c:f>
              <c:strCache>
                <c:ptCount val="1"/>
                <c:pt idx="0">
                  <c:v>Hatékonyság (kumulált) / Efficiency (cumulative)</c:v>
                </c:pt>
              </c:strCache>
            </c:strRef>
          </c:tx>
          <c:spPr>
            <a:ln w="28575" cap="rnd">
              <a:solidFill>
                <a:srgbClr val="FFC000"/>
              </a:solidFill>
              <a:round/>
            </a:ln>
            <a:effectLst/>
          </c:spPr>
          <c:marker>
            <c:symbol val="none"/>
          </c:marker>
          <c:cat>
            <c:numRef>
              <c:f>'SS Auto Bending'!$A$9:$A$29</c:f>
              <c:numCache>
                <c:formatCode>General</c:formatCode>
                <c:ptCount val="21"/>
                <c:pt idx="0">
                  <c:v>1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18</c:v>
                </c:pt>
                <c:pt idx="12">
                  <c:v>19</c:v>
                </c:pt>
                <c:pt idx="13">
                  <c:v>21</c:v>
                </c:pt>
                <c:pt idx="14">
                  <c:v>22</c:v>
                </c:pt>
                <c:pt idx="15">
                  <c:v>25</c:v>
                </c:pt>
                <c:pt idx="16">
                  <c:v>26</c:v>
                </c:pt>
                <c:pt idx="17">
                  <c:v>27</c:v>
                </c:pt>
                <c:pt idx="18">
                  <c:v>28</c:v>
                </c:pt>
                <c:pt idx="19">
                  <c:v>29</c:v>
                </c:pt>
              </c:numCache>
            </c:numRef>
          </c:cat>
          <c:val>
            <c:numRef>
              <c:f>'SS Auto Bending'!$T$9:$T$32</c:f>
              <c:numCache>
                <c:formatCode>0.00%</c:formatCode>
                <c:ptCount val="24"/>
                <c:pt idx="0">
                  <c:v>0</c:v>
                </c:pt>
                <c:pt idx="1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AA9B-44A6-B66B-297D631B447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73140160"/>
        <c:axId val="473133496"/>
      </c:lineChart>
      <c:catAx>
        <c:axId val="47314016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  <c:crossAx val="473133496"/>
        <c:crosses val="autoZero"/>
        <c:auto val="1"/>
        <c:lblAlgn val="ctr"/>
        <c:lblOffset val="100"/>
        <c:noMultiLvlLbl val="0"/>
      </c:catAx>
      <c:valAx>
        <c:axId val="4731334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  <c:crossAx val="473140160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u-H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2"/>
      </a:solidFill>
    </a:ln>
    <a:effectLst/>
  </c:spPr>
  <c:txPr>
    <a:bodyPr/>
    <a:lstStyle/>
    <a:p>
      <a:pPr>
        <a:defRPr/>
      </a:pPr>
      <a:endParaRPr lang="hu-HU"/>
    </a:p>
  </c:txPr>
  <c:externalData r:id="rId3">
    <c:autoUpdate val="1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hu-HU" baseline="0"/>
              <a:t>SS Autohajlító </a:t>
            </a:r>
            <a:r>
              <a:rPr lang="hu-HU"/>
              <a:t>Működési</a:t>
            </a:r>
            <a:r>
              <a:rPr lang="hu-HU" baseline="0"/>
              <a:t> idő</a:t>
            </a:r>
            <a:r>
              <a:rPr lang="hu-HU"/>
              <a:t> / SS</a:t>
            </a:r>
            <a:r>
              <a:rPr lang="hu-HU" baseline="0"/>
              <a:t> Autobending</a:t>
            </a:r>
            <a:r>
              <a:rPr lang="hu-HU"/>
              <a:t> Operation hours 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u-HU"/>
        </a:p>
      </c:txPr>
    </c:title>
    <c:autoTitleDeleted val="0"/>
    <c:plotArea>
      <c:layout/>
      <c:barChart>
        <c:barDir val="col"/>
        <c:grouping val="clustered"/>
        <c:varyColors val="0"/>
        <c:ser>
          <c:idx val="2"/>
          <c:order val="2"/>
          <c:tx>
            <c:strRef>
              <c:f>'SS Auto Bending'!$P$8</c:f>
              <c:strCache>
                <c:ptCount val="1"/>
                <c:pt idx="0">
                  <c:v>Operating hours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val>
            <c:numRef>
              <c:f>'SS Auto Bending'!$P$9:$P$32</c:f>
              <c:numCache>
                <c:formatCode>General</c:formatCode>
                <c:ptCount val="24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9C2-4898-AB8C-C6BAF3C122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71599336"/>
        <c:axId val="471596200"/>
      </c:barChart>
      <c:lineChart>
        <c:grouping val="standard"/>
        <c:varyColors val="0"/>
        <c:ser>
          <c:idx val="0"/>
          <c:order val="0"/>
          <c:tx>
            <c:strRef>
              <c:f>'SS Auto Bending'!$Q$8</c:f>
              <c:strCache>
                <c:ptCount val="1"/>
                <c:pt idx="0">
                  <c:v>Operation hours target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numRef>
              <c:f>'SS Auto Bending'!$A$9:$A$32</c:f>
              <c:numCache>
                <c:formatCode>General</c:formatCode>
                <c:ptCount val="24"/>
                <c:pt idx="0">
                  <c:v>1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18</c:v>
                </c:pt>
                <c:pt idx="12">
                  <c:v>19</c:v>
                </c:pt>
                <c:pt idx="13">
                  <c:v>21</c:v>
                </c:pt>
                <c:pt idx="14">
                  <c:v>22</c:v>
                </c:pt>
                <c:pt idx="15">
                  <c:v>25</c:v>
                </c:pt>
                <c:pt idx="16">
                  <c:v>26</c:v>
                </c:pt>
                <c:pt idx="17">
                  <c:v>27</c:v>
                </c:pt>
                <c:pt idx="18">
                  <c:v>28</c:v>
                </c:pt>
                <c:pt idx="19">
                  <c:v>29</c:v>
                </c:pt>
              </c:numCache>
            </c:numRef>
          </c:cat>
          <c:val>
            <c:numRef>
              <c:f>'SS Auto Bending'!$Q$9:$Q$30</c:f>
              <c:numCache>
                <c:formatCode>General</c:formatCode>
                <c:ptCount val="22"/>
                <c:pt idx="0">
                  <c:v>8</c:v>
                </c:pt>
                <c:pt idx="1">
                  <c:v>8</c:v>
                </c:pt>
                <c:pt idx="2">
                  <c:v>8</c:v>
                </c:pt>
                <c:pt idx="3">
                  <c:v>8</c:v>
                </c:pt>
                <c:pt idx="4">
                  <c:v>8</c:v>
                </c:pt>
                <c:pt idx="5">
                  <c:v>8</c:v>
                </c:pt>
                <c:pt idx="6">
                  <c:v>8</c:v>
                </c:pt>
                <c:pt idx="7">
                  <c:v>8</c:v>
                </c:pt>
                <c:pt idx="8">
                  <c:v>8</c:v>
                </c:pt>
                <c:pt idx="9">
                  <c:v>8</c:v>
                </c:pt>
                <c:pt idx="10">
                  <c:v>8</c:v>
                </c:pt>
                <c:pt idx="11">
                  <c:v>8</c:v>
                </c:pt>
                <c:pt idx="12">
                  <c:v>8</c:v>
                </c:pt>
                <c:pt idx="13">
                  <c:v>8</c:v>
                </c:pt>
                <c:pt idx="14">
                  <c:v>8</c:v>
                </c:pt>
                <c:pt idx="15">
                  <c:v>8</c:v>
                </c:pt>
                <c:pt idx="16">
                  <c:v>8</c:v>
                </c:pt>
                <c:pt idx="17">
                  <c:v>8</c:v>
                </c:pt>
                <c:pt idx="18">
                  <c:v>8</c:v>
                </c:pt>
                <c:pt idx="19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C2-4898-AB8C-C6BAF3C122EB}"/>
            </c:ext>
          </c:extLst>
        </c:ser>
        <c:ser>
          <c:idx val="1"/>
          <c:order val="1"/>
          <c:tx>
            <c:strRef>
              <c:f>'SS Auto Bending'!$R$8</c:f>
              <c:strCache>
                <c:ptCount val="1"/>
                <c:pt idx="0">
                  <c:v>Daily opeation hours plan target</c:v>
                </c:pt>
              </c:strCache>
            </c:strRef>
          </c:tx>
          <c:spPr>
            <a:ln w="28575" cap="rnd">
              <a:solidFill>
                <a:srgbClr val="FFC000"/>
              </a:solidFill>
              <a:round/>
            </a:ln>
            <a:effectLst/>
          </c:spPr>
          <c:marker>
            <c:symbol val="none"/>
          </c:marker>
          <c:cat>
            <c:numRef>
              <c:f>'SS Auto Bending'!$A$9:$A$32</c:f>
              <c:numCache>
                <c:formatCode>General</c:formatCode>
                <c:ptCount val="24"/>
                <c:pt idx="0">
                  <c:v>1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18</c:v>
                </c:pt>
                <c:pt idx="12">
                  <c:v>19</c:v>
                </c:pt>
                <c:pt idx="13">
                  <c:v>21</c:v>
                </c:pt>
                <c:pt idx="14">
                  <c:v>22</c:v>
                </c:pt>
                <c:pt idx="15">
                  <c:v>25</c:v>
                </c:pt>
                <c:pt idx="16">
                  <c:v>26</c:v>
                </c:pt>
                <c:pt idx="17">
                  <c:v>27</c:v>
                </c:pt>
                <c:pt idx="18">
                  <c:v>28</c:v>
                </c:pt>
                <c:pt idx="19">
                  <c:v>29</c:v>
                </c:pt>
              </c:numCache>
            </c:numRef>
          </c:cat>
          <c:val>
            <c:numRef>
              <c:f>'SS Auto Bending'!$R$9:$R$30</c:f>
              <c:numCache>
                <c:formatCode>General</c:formatCode>
                <c:ptCount val="22"/>
                <c:pt idx="0">
                  <c:v>1.3</c:v>
                </c:pt>
                <c:pt idx="1">
                  <c:v>1.3</c:v>
                </c:pt>
                <c:pt idx="2">
                  <c:v>1.3</c:v>
                </c:pt>
                <c:pt idx="3">
                  <c:v>1.3</c:v>
                </c:pt>
                <c:pt idx="4">
                  <c:v>1.3</c:v>
                </c:pt>
                <c:pt idx="5">
                  <c:v>1.3</c:v>
                </c:pt>
                <c:pt idx="6">
                  <c:v>1.3</c:v>
                </c:pt>
                <c:pt idx="7">
                  <c:v>1.3</c:v>
                </c:pt>
                <c:pt idx="8">
                  <c:v>1.3</c:v>
                </c:pt>
                <c:pt idx="9">
                  <c:v>1.3</c:v>
                </c:pt>
                <c:pt idx="10">
                  <c:v>1.3</c:v>
                </c:pt>
                <c:pt idx="11">
                  <c:v>1.3</c:v>
                </c:pt>
                <c:pt idx="12">
                  <c:v>1.3</c:v>
                </c:pt>
                <c:pt idx="13">
                  <c:v>1.3</c:v>
                </c:pt>
                <c:pt idx="14">
                  <c:v>1.3</c:v>
                </c:pt>
                <c:pt idx="15">
                  <c:v>1.3</c:v>
                </c:pt>
                <c:pt idx="16">
                  <c:v>1.3</c:v>
                </c:pt>
                <c:pt idx="17">
                  <c:v>1.3</c:v>
                </c:pt>
                <c:pt idx="18">
                  <c:v>1.3</c:v>
                </c:pt>
                <c:pt idx="19">
                  <c:v>1.3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9C2-4898-AB8C-C6BAF3C122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71599336"/>
        <c:axId val="471596200"/>
      </c:lineChart>
      <c:catAx>
        <c:axId val="4715993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  <c:crossAx val="471596200"/>
        <c:crosses val="autoZero"/>
        <c:auto val="1"/>
        <c:lblAlgn val="ctr"/>
        <c:lblOffset val="100"/>
        <c:noMultiLvlLbl val="0"/>
      </c:catAx>
      <c:valAx>
        <c:axId val="47159620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  <c:crossAx val="4715993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u-H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2"/>
      </a:solidFill>
    </a:ln>
    <a:effectLst/>
  </c:spPr>
  <c:txPr>
    <a:bodyPr/>
    <a:lstStyle/>
    <a:p>
      <a:pPr>
        <a:defRPr/>
      </a:pPr>
      <a:endParaRPr lang="hu-HU"/>
    </a:p>
  </c:txPr>
  <c:externalData r:id="rId3">
    <c:autoUpdate val="1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hu-HU"/>
              <a:t>Manua</a:t>
            </a:r>
            <a:r>
              <a:rPr lang="hu-HU" baseline="0"/>
              <a:t>l process total efficiency</a:t>
            </a:r>
            <a:endParaRPr lang="hu-HU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u-HU"/>
        </a:p>
      </c:txPr>
    </c:title>
    <c:autoTitleDeleted val="0"/>
    <c:plotArea>
      <c:layout>
        <c:manualLayout>
          <c:layoutTarget val="inner"/>
          <c:xMode val="edge"/>
          <c:yMode val="edge"/>
          <c:x val="0.10326264891911341"/>
          <c:y val="2.6403146196705425E-2"/>
          <c:w val="0.88785341856423228"/>
          <c:h val="0.87058217842785457"/>
        </c:manualLayout>
      </c:layout>
      <c:barChart>
        <c:barDir val="col"/>
        <c:grouping val="clustered"/>
        <c:varyColors val="0"/>
        <c:ser>
          <c:idx val="1"/>
          <c:order val="1"/>
          <c:tx>
            <c:strRef>
              <c:f>'Prod.Output Summ'!$G$32</c:f>
              <c:strCache>
                <c:ptCount val="1"/>
                <c:pt idx="0">
                  <c:v>Átlag / AVG</c:v>
                </c:pt>
              </c:strCache>
            </c:strRef>
          </c:tx>
          <c:spPr>
            <a:solidFill>
              <a:srgbClr val="0070C0"/>
            </a:solidFill>
            <a:ln>
              <a:solidFill>
                <a:srgbClr val="0070C0"/>
              </a:solidFill>
            </a:ln>
            <a:effectLst/>
          </c:spPr>
          <c:invertIfNegative val="0"/>
          <c:cat>
            <c:numRef>
              <c:f>'Prod.Output Summ'!$E$33:$E$53</c:f>
              <c:numCache>
                <c:formatCode>0</c:formatCode>
                <c:ptCount val="21"/>
                <c:pt idx="0">
                  <c:v>1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18</c:v>
                </c:pt>
                <c:pt idx="12">
                  <c:v>19</c:v>
                </c:pt>
                <c:pt idx="13">
                  <c:v>21</c:v>
                </c:pt>
                <c:pt idx="14">
                  <c:v>22</c:v>
                </c:pt>
                <c:pt idx="15">
                  <c:v>25</c:v>
                </c:pt>
                <c:pt idx="16">
                  <c:v>26</c:v>
                </c:pt>
                <c:pt idx="17">
                  <c:v>27</c:v>
                </c:pt>
                <c:pt idx="18">
                  <c:v>28</c:v>
                </c:pt>
                <c:pt idx="19">
                  <c:v>29</c:v>
                </c:pt>
              </c:numCache>
            </c:numRef>
          </c:cat>
          <c:val>
            <c:numRef>
              <c:f>'Prod.Output Summ'!$G$33:$G$53</c:f>
              <c:numCache>
                <c:formatCode>0.00%</c:formatCode>
                <c:ptCount val="21"/>
                <c:pt idx="0">
                  <c:v>1.1253000000000002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065-4F18-9D94-DCD213B48F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72998704"/>
        <c:axId val="472999880"/>
      </c:barChart>
      <c:lineChart>
        <c:grouping val="standard"/>
        <c:varyColors val="0"/>
        <c:ser>
          <c:idx val="0"/>
          <c:order val="0"/>
          <c:tx>
            <c:strRef>
              <c:f>'Prod.Output Summ'!$F$32</c:f>
              <c:strCache>
                <c:ptCount val="1"/>
                <c:pt idx="0">
                  <c:v>Cél / Target (daily)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numRef>
              <c:f>'Prod.Output Summ'!$E$33:$E$52</c:f>
              <c:numCache>
                <c:formatCode>0</c:formatCode>
                <c:ptCount val="20"/>
                <c:pt idx="0">
                  <c:v>1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18</c:v>
                </c:pt>
                <c:pt idx="12">
                  <c:v>19</c:v>
                </c:pt>
                <c:pt idx="13">
                  <c:v>21</c:v>
                </c:pt>
                <c:pt idx="14">
                  <c:v>22</c:v>
                </c:pt>
                <c:pt idx="15">
                  <c:v>25</c:v>
                </c:pt>
                <c:pt idx="16">
                  <c:v>26</c:v>
                </c:pt>
                <c:pt idx="17">
                  <c:v>27</c:v>
                </c:pt>
                <c:pt idx="18">
                  <c:v>28</c:v>
                </c:pt>
                <c:pt idx="19">
                  <c:v>29</c:v>
                </c:pt>
              </c:numCache>
            </c:numRef>
          </c:cat>
          <c:val>
            <c:numRef>
              <c:f>'Prod.Output Summ'!$F$33:$F$52</c:f>
              <c:numCache>
                <c:formatCode>0.00%</c:formatCode>
                <c:ptCount val="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3065-4F18-9D94-DCD213B48FAD}"/>
            </c:ext>
          </c:extLst>
        </c:ser>
        <c:ser>
          <c:idx val="6"/>
          <c:order val="2"/>
          <c:tx>
            <c:strRef>
              <c:f>'Prod.Output Summ'!$M$32</c:f>
              <c:strCache>
                <c:ptCount val="1"/>
                <c:pt idx="0">
                  <c:v>Kumulált átlag / AVG Cumulative</c:v>
                </c:pt>
              </c:strCache>
            </c:strRef>
          </c:tx>
          <c:spPr>
            <a:ln w="28575" cap="rnd">
              <a:solidFill>
                <a:srgbClr val="FFC000"/>
              </a:solidFill>
              <a:round/>
            </a:ln>
            <a:effectLst/>
          </c:spPr>
          <c:marker>
            <c:symbol val="none"/>
          </c:marker>
          <c:cat>
            <c:numRef>
              <c:f>'Prod.Output Summ'!$E$33:$E$52</c:f>
              <c:numCache>
                <c:formatCode>0</c:formatCode>
                <c:ptCount val="20"/>
                <c:pt idx="0">
                  <c:v>1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18</c:v>
                </c:pt>
                <c:pt idx="12">
                  <c:v>19</c:v>
                </c:pt>
                <c:pt idx="13">
                  <c:v>21</c:v>
                </c:pt>
                <c:pt idx="14">
                  <c:v>22</c:v>
                </c:pt>
                <c:pt idx="15">
                  <c:v>25</c:v>
                </c:pt>
                <c:pt idx="16">
                  <c:v>26</c:v>
                </c:pt>
                <c:pt idx="17">
                  <c:v>27</c:v>
                </c:pt>
                <c:pt idx="18">
                  <c:v>28</c:v>
                </c:pt>
                <c:pt idx="19">
                  <c:v>29</c:v>
                </c:pt>
              </c:numCache>
            </c:numRef>
          </c:cat>
          <c:val>
            <c:numRef>
              <c:f>'Prod.Output Summ'!$M$33:$M$53</c:f>
              <c:numCache>
                <c:formatCode>0.00%</c:formatCode>
                <c:ptCount val="21"/>
                <c:pt idx="0">
                  <c:v>1.1253000000000002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3065-4F18-9D94-DCD213B48FA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72998704"/>
        <c:axId val="472999880"/>
      </c:lineChart>
      <c:catAx>
        <c:axId val="472998704"/>
        <c:scaling>
          <c:orientation val="minMax"/>
        </c:scaling>
        <c:delete val="0"/>
        <c:axPos val="b"/>
        <c:numFmt formatCode="0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  <c:crossAx val="472999880"/>
        <c:crosses val="autoZero"/>
        <c:auto val="1"/>
        <c:lblAlgn val="ctr"/>
        <c:lblOffset val="100"/>
        <c:noMultiLvlLbl val="0"/>
      </c:catAx>
      <c:valAx>
        <c:axId val="47299988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  <c:crossAx val="47299870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u-H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2"/>
      </a:solidFill>
    </a:ln>
    <a:effectLst/>
  </c:spPr>
  <c:txPr>
    <a:bodyPr/>
    <a:lstStyle/>
    <a:p>
      <a:pPr>
        <a:defRPr/>
      </a:pPr>
      <a:endParaRPr lang="hu-HU"/>
    </a:p>
  </c:txPr>
  <c:externalData r:id="rId3">
    <c:autoUpdate val="1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hu-HU"/>
              <a:t>Manua</a:t>
            </a:r>
            <a:r>
              <a:rPr lang="hu-HU" baseline="0"/>
              <a:t>l process total efficiency (Corrected with utilization)</a:t>
            </a:r>
          </a:p>
          <a:p>
            <a:pPr>
              <a:defRPr/>
            </a:pPr>
            <a:endParaRPr lang="hu-HU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u-HU"/>
        </a:p>
      </c:txPr>
    </c:title>
    <c:autoTitleDeleted val="0"/>
    <c:plotArea>
      <c:layout/>
      <c:barChart>
        <c:barDir val="col"/>
        <c:grouping val="clustered"/>
        <c:varyColors val="0"/>
        <c:ser>
          <c:idx val="1"/>
          <c:order val="1"/>
          <c:tx>
            <c:strRef>
              <c:f>'Prod.Output Summ'!$D$32</c:f>
              <c:strCache>
                <c:ptCount val="1"/>
                <c:pt idx="0">
                  <c:v>Corrected Efficency (excess)</c:v>
                </c:pt>
              </c:strCache>
            </c:strRef>
          </c:tx>
          <c:spPr>
            <a:solidFill>
              <a:srgbClr val="0070C0"/>
            </a:solidFill>
            <a:ln>
              <a:solidFill>
                <a:srgbClr val="0070C0"/>
              </a:solidFill>
            </a:ln>
            <a:effectLst/>
          </c:spPr>
          <c:invertIfNegative val="0"/>
          <c:cat>
            <c:numRef>
              <c:f>'[1]Prod.Output Summ'!$D$33:$D$49</c:f>
              <c:numCache>
                <c:formatCode>General</c:formatCode>
                <c:ptCount val="17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</c:numCache>
            </c:numRef>
          </c:cat>
          <c:val>
            <c:numRef>
              <c:f>'Prod.Output Summ'!$D$33:$D$53</c:f>
              <c:numCache>
                <c:formatCode>0.00%</c:formatCode>
                <c:ptCount val="21"/>
                <c:pt idx="0">
                  <c:v>1.5539857142857145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10E-47C9-874A-053A79D1EC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72996352"/>
        <c:axId val="472997920"/>
      </c:barChart>
      <c:lineChart>
        <c:grouping val="standard"/>
        <c:varyColors val="0"/>
        <c:ser>
          <c:idx val="0"/>
          <c:order val="0"/>
          <c:tx>
            <c:strRef>
              <c:f>'Prod.Output Summ'!$F$32</c:f>
              <c:strCache>
                <c:ptCount val="1"/>
                <c:pt idx="0">
                  <c:v>Cél / Target (daily)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numRef>
              <c:f>'Prod.Output Summ'!$E$33:$E$52</c:f>
              <c:numCache>
                <c:formatCode>0</c:formatCode>
                <c:ptCount val="20"/>
                <c:pt idx="0">
                  <c:v>1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18</c:v>
                </c:pt>
                <c:pt idx="12">
                  <c:v>19</c:v>
                </c:pt>
                <c:pt idx="13">
                  <c:v>21</c:v>
                </c:pt>
                <c:pt idx="14">
                  <c:v>22</c:v>
                </c:pt>
                <c:pt idx="15">
                  <c:v>25</c:v>
                </c:pt>
                <c:pt idx="16">
                  <c:v>26</c:v>
                </c:pt>
                <c:pt idx="17">
                  <c:v>27</c:v>
                </c:pt>
                <c:pt idx="18">
                  <c:v>28</c:v>
                </c:pt>
                <c:pt idx="19">
                  <c:v>29</c:v>
                </c:pt>
              </c:numCache>
            </c:numRef>
          </c:cat>
          <c:val>
            <c:numRef>
              <c:f>'Prod.Output Summ'!$F$33:$F$52</c:f>
              <c:numCache>
                <c:formatCode>0.00%</c:formatCode>
                <c:ptCount val="20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10E-47C9-874A-053A79D1ECE4}"/>
            </c:ext>
          </c:extLst>
        </c:ser>
        <c:ser>
          <c:idx val="6"/>
          <c:order val="2"/>
          <c:tx>
            <c:strRef>
              <c:f>'Prod.Output Summ'!$N$32</c:f>
              <c:strCache>
                <c:ptCount val="1"/>
                <c:pt idx="0">
                  <c:v>Kumulált átlag / AVG Cumulative-Corrected Efficency (excess)</c:v>
                </c:pt>
              </c:strCache>
            </c:strRef>
          </c:tx>
          <c:spPr>
            <a:ln w="28575" cap="rnd">
              <a:solidFill>
                <a:srgbClr val="FFC000"/>
              </a:solidFill>
              <a:round/>
            </a:ln>
            <a:effectLst/>
          </c:spPr>
          <c:marker>
            <c:symbol val="none"/>
          </c:marker>
          <c:cat>
            <c:numRef>
              <c:f>'Prod.Output Summ'!$E$33:$E$52</c:f>
              <c:numCache>
                <c:formatCode>0</c:formatCode>
                <c:ptCount val="20"/>
                <c:pt idx="0">
                  <c:v>1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18</c:v>
                </c:pt>
                <c:pt idx="12">
                  <c:v>19</c:v>
                </c:pt>
                <c:pt idx="13">
                  <c:v>21</c:v>
                </c:pt>
                <c:pt idx="14">
                  <c:v>22</c:v>
                </c:pt>
                <c:pt idx="15">
                  <c:v>25</c:v>
                </c:pt>
                <c:pt idx="16">
                  <c:v>26</c:v>
                </c:pt>
                <c:pt idx="17">
                  <c:v>27</c:v>
                </c:pt>
                <c:pt idx="18">
                  <c:v>28</c:v>
                </c:pt>
                <c:pt idx="19">
                  <c:v>29</c:v>
                </c:pt>
              </c:numCache>
            </c:numRef>
          </c:cat>
          <c:val>
            <c:numRef>
              <c:f>'Prod.Output Summ'!$N$33:$N$53</c:f>
              <c:numCache>
                <c:formatCode>0.00%</c:formatCode>
                <c:ptCount val="21"/>
                <c:pt idx="0">
                  <c:v>1.5539857142857145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10E-47C9-874A-053A79D1ECE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72996352"/>
        <c:axId val="472997920"/>
      </c:lineChart>
      <c:catAx>
        <c:axId val="47299635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  <c:crossAx val="472997920"/>
        <c:crosses val="autoZero"/>
        <c:auto val="1"/>
        <c:lblAlgn val="ctr"/>
        <c:lblOffset val="100"/>
        <c:noMultiLvlLbl val="0"/>
      </c:catAx>
      <c:valAx>
        <c:axId val="472997920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  <c:crossAx val="47299635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u-H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2"/>
      </a:solidFill>
    </a:ln>
    <a:effectLst/>
  </c:spPr>
  <c:txPr>
    <a:bodyPr/>
    <a:lstStyle/>
    <a:p>
      <a:pPr>
        <a:defRPr/>
      </a:pPr>
      <a:endParaRPr lang="hu-HU"/>
    </a:p>
  </c:txPr>
  <c:externalData r:id="rId3">
    <c:autoUpdate val="1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ja-JP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hu-HU" altLang="ja-JP"/>
              <a:t>Kötegelés</a:t>
            </a:r>
            <a:r>
              <a:rPr lang="hu-HU" altLang="ja-JP" baseline="0"/>
              <a:t> kimenet / </a:t>
            </a:r>
            <a:r>
              <a:rPr lang="hu-HU" altLang="ja-JP"/>
              <a:t>Bundling output</a:t>
            </a:r>
            <a:endParaRPr lang="hu-HU" altLang="ja-JP" baseline="0"/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3"/>
          <c:order val="2"/>
          <c:tx>
            <c:strRef>
              <c:f>'KFT Output_Bundling'!$F$8</c:f>
              <c:strCache>
                <c:ptCount val="1"/>
                <c:pt idx="0">
                  <c:v>Teljes / Total</c:v>
                </c:pt>
              </c:strCache>
            </c:strRef>
          </c:tx>
          <c:spPr>
            <a:solidFill>
              <a:srgbClr val="0070C0"/>
            </a:solidFill>
          </c:spPr>
          <c:invertIfNegative val="0"/>
          <c:val>
            <c:numRef>
              <c:f>'KFT Output_Bundling'!$F$9:$F$29</c:f>
              <c:numCache>
                <c:formatCode>_-* #\ ##0\ _F_t_-;\-* #\ ##0\ _F_t_-;_-* "-"??\ _F_t_-;_-@_-</c:formatCode>
                <c:ptCount val="21"/>
                <c:pt idx="0">
                  <c:v>25117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878-42F6-84BC-18A91F5C26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73138200"/>
        <c:axId val="473132712"/>
      </c:barChart>
      <c:lineChart>
        <c:grouping val="standard"/>
        <c:varyColors val="0"/>
        <c:ser>
          <c:idx val="0"/>
          <c:order val="0"/>
          <c:tx>
            <c:strRef>
              <c:f>'KFT Output_Bundling'!$B$8</c:f>
              <c:strCache>
                <c:ptCount val="1"/>
                <c:pt idx="0">
                  <c:v>Napi terv / Daily plan</c:v>
                </c:pt>
              </c:strCache>
            </c:strRef>
          </c:tx>
          <c:spPr>
            <a:ln w="25400">
              <a:solidFill>
                <a:srgbClr val="92D050"/>
              </a:solidFill>
            </a:ln>
            <a:effectLst/>
          </c:spPr>
          <c:marker>
            <c:symbol val="none"/>
          </c:marker>
          <c:cat>
            <c:numRef>
              <c:f>'KFT Output_Bundling'!$A$9:$A$29</c:f>
              <c:numCache>
                <c:formatCode>General</c:formatCode>
                <c:ptCount val="21"/>
                <c:pt idx="0">
                  <c:v>1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18</c:v>
                </c:pt>
                <c:pt idx="12">
                  <c:v>19</c:v>
                </c:pt>
                <c:pt idx="13">
                  <c:v>21</c:v>
                </c:pt>
                <c:pt idx="14">
                  <c:v>22</c:v>
                </c:pt>
                <c:pt idx="15">
                  <c:v>25</c:v>
                </c:pt>
                <c:pt idx="16">
                  <c:v>26</c:v>
                </c:pt>
                <c:pt idx="17">
                  <c:v>27</c:v>
                </c:pt>
                <c:pt idx="18">
                  <c:v>28</c:v>
                </c:pt>
                <c:pt idx="19">
                  <c:v>29</c:v>
                </c:pt>
              </c:numCache>
            </c:numRef>
          </c:cat>
          <c:val>
            <c:numRef>
              <c:f>'KFT Output_Bundling'!$B$9:$B$29</c:f>
              <c:numCache>
                <c:formatCode>0</c:formatCode>
                <c:ptCount val="21"/>
                <c:pt idx="0">
                  <c:v>18557.75</c:v>
                </c:pt>
                <c:pt idx="1">
                  <c:v>18557.75</c:v>
                </c:pt>
                <c:pt idx="2">
                  <c:v>18557.75</c:v>
                </c:pt>
                <c:pt idx="3">
                  <c:v>18557.75</c:v>
                </c:pt>
                <c:pt idx="4">
                  <c:v>18557.75</c:v>
                </c:pt>
                <c:pt idx="5">
                  <c:v>18557.75</c:v>
                </c:pt>
                <c:pt idx="6">
                  <c:v>18557.75</c:v>
                </c:pt>
                <c:pt idx="7">
                  <c:v>18557.75</c:v>
                </c:pt>
                <c:pt idx="8">
                  <c:v>18557.75</c:v>
                </c:pt>
                <c:pt idx="9">
                  <c:v>18557.75</c:v>
                </c:pt>
                <c:pt idx="10">
                  <c:v>18557.75</c:v>
                </c:pt>
                <c:pt idx="11">
                  <c:v>18557.75</c:v>
                </c:pt>
                <c:pt idx="12">
                  <c:v>18557.75</c:v>
                </c:pt>
                <c:pt idx="13">
                  <c:v>18557.75</c:v>
                </c:pt>
                <c:pt idx="14">
                  <c:v>18557.75</c:v>
                </c:pt>
                <c:pt idx="15">
                  <c:v>18557.75</c:v>
                </c:pt>
                <c:pt idx="16">
                  <c:v>18557.75</c:v>
                </c:pt>
                <c:pt idx="17">
                  <c:v>18557.75</c:v>
                </c:pt>
                <c:pt idx="18">
                  <c:v>18557.75</c:v>
                </c:pt>
                <c:pt idx="19">
                  <c:v>18557.75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0878-42F6-84BC-18A91F5C26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73138200"/>
        <c:axId val="473132712"/>
      </c:lineChart>
      <c:lineChart>
        <c:grouping val="standard"/>
        <c:varyColors val="0"/>
        <c:ser>
          <c:idx val="1"/>
          <c:order val="1"/>
          <c:tx>
            <c:strRef>
              <c:f>'KFT Output_Bundling'!$E$8</c:f>
              <c:strCache>
                <c:ptCount val="1"/>
                <c:pt idx="0">
                  <c:v>Kimenet (kumulált) / Output (cumulative)</c:v>
                </c:pt>
              </c:strCache>
            </c:strRef>
          </c:tx>
          <c:spPr>
            <a:ln w="25400" cap="rnd">
              <a:solidFill>
                <a:srgbClr val="FFC000"/>
              </a:solidFill>
              <a:round/>
            </a:ln>
            <a:effectLst/>
          </c:spPr>
          <c:marker>
            <c:symbol val="none"/>
          </c:marker>
          <c:cat>
            <c:numRef>
              <c:f>'KFT Output_Bundling'!$A$9:$A$29</c:f>
              <c:numCache>
                <c:formatCode>General</c:formatCode>
                <c:ptCount val="21"/>
                <c:pt idx="0">
                  <c:v>1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18</c:v>
                </c:pt>
                <c:pt idx="12">
                  <c:v>19</c:v>
                </c:pt>
                <c:pt idx="13">
                  <c:v>21</c:v>
                </c:pt>
                <c:pt idx="14">
                  <c:v>22</c:v>
                </c:pt>
                <c:pt idx="15">
                  <c:v>25</c:v>
                </c:pt>
                <c:pt idx="16">
                  <c:v>26</c:v>
                </c:pt>
                <c:pt idx="17">
                  <c:v>27</c:v>
                </c:pt>
                <c:pt idx="18">
                  <c:v>28</c:v>
                </c:pt>
                <c:pt idx="19">
                  <c:v>29</c:v>
                </c:pt>
              </c:numCache>
            </c:numRef>
          </c:cat>
          <c:val>
            <c:numRef>
              <c:f>'KFT Output_Bundling'!$E$9:$E$31</c:f>
              <c:numCache>
                <c:formatCode>_-* #\ ##0\ _F_t_-;\-* #\ ##0\ _F_t_-;_-* "-"??\ _F_t_-;_-@_-</c:formatCode>
                <c:ptCount val="23"/>
                <c:pt idx="0">
                  <c:v>25117</c:v>
                </c:pt>
                <c:pt idx="1">
                  <c:v>25117</c:v>
                </c:pt>
                <c:pt idx="2">
                  <c:v>25117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0878-42F6-84BC-18A91F5C265E}"/>
            </c:ext>
          </c:extLst>
        </c:ser>
        <c:ser>
          <c:idx val="2"/>
          <c:order val="3"/>
          <c:tx>
            <c:strRef>
              <c:f>'KFT Output_Bundling'!$D$8</c:f>
              <c:strCache>
                <c:ptCount val="1"/>
                <c:pt idx="0">
                  <c:v>Terv / Plan</c:v>
                </c:pt>
              </c:strCache>
            </c:strRef>
          </c:tx>
          <c:spPr>
            <a:ln w="25400">
              <a:solidFill>
                <a:schemeClr val="tx1">
                  <a:lumMod val="50000"/>
                  <a:lumOff val="50000"/>
                </a:schemeClr>
              </a:solidFill>
            </a:ln>
          </c:spPr>
          <c:marker>
            <c:symbol val="none"/>
          </c:marker>
          <c:cat>
            <c:numRef>
              <c:f>'KFT Output_Bundling'!$A$9:$A$29</c:f>
              <c:numCache>
                <c:formatCode>General</c:formatCode>
                <c:ptCount val="21"/>
                <c:pt idx="0">
                  <c:v>1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18</c:v>
                </c:pt>
                <c:pt idx="12">
                  <c:v>19</c:v>
                </c:pt>
                <c:pt idx="13">
                  <c:v>21</c:v>
                </c:pt>
                <c:pt idx="14">
                  <c:v>22</c:v>
                </c:pt>
                <c:pt idx="15">
                  <c:v>25</c:v>
                </c:pt>
                <c:pt idx="16">
                  <c:v>26</c:v>
                </c:pt>
                <c:pt idx="17">
                  <c:v>27</c:v>
                </c:pt>
                <c:pt idx="18">
                  <c:v>28</c:v>
                </c:pt>
                <c:pt idx="19">
                  <c:v>29</c:v>
                </c:pt>
              </c:numCache>
            </c:numRef>
          </c:cat>
          <c:val>
            <c:numRef>
              <c:f>'KFT Output_Bundling'!$D$9:$D$29</c:f>
              <c:numCache>
                <c:formatCode>_-* #\ ##0\ _F_t_-;\-* #\ ##0\ _F_t_-;_-* "-"??\ _F_t_-;_-@_-</c:formatCode>
                <c:ptCount val="21"/>
                <c:pt idx="0">
                  <c:v>18557.75</c:v>
                </c:pt>
                <c:pt idx="1">
                  <c:v>37115.5</c:v>
                </c:pt>
                <c:pt idx="2">
                  <c:v>55673.25</c:v>
                </c:pt>
                <c:pt idx="3">
                  <c:v>74231</c:v>
                </c:pt>
                <c:pt idx="4">
                  <c:v>92788.75</c:v>
                </c:pt>
                <c:pt idx="5">
                  <c:v>111346.5</c:v>
                </c:pt>
                <c:pt idx="6">
                  <c:v>129904.25</c:v>
                </c:pt>
                <c:pt idx="7">
                  <c:v>148462</c:v>
                </c:pt>
                <c:pt idx="8">
                  <c:v>167019.75</c:v>
                </c:pt>
                <c:pt idx="9">
                  <c:v>185577.5</c:v>
                </c:pt>
                <c:pt idx="10">
                  <c:v>204135.25</c:v>
                </c:pt>
                <c:pt idx="11">
                  <c:v>222693</c:v>
                </c:pt>
                <c:pt idx="12">
                  <c:v>241250.75</c:v>
                </c:pt>
                <c:pt idx="13">
                  <c:v>259808.5</c:v>
                </c:pt>
                <c:pt idx="14">
                  <c:v>278366.25</c:v>
                </c:pt>
                <c:pt idx="15">
                  <c:v>296924</c:v>
                </c:pt>
                <c:pt idx="16">
                  <c:v>315481.75</c:v>
                </c:pt>
                <c:pt idx="17">
                  <c:v>334039.5</c:v>
                </c:pt>
                <c:pt idx="18">
                  <c:v>352597.25</c:v>
                </c:pt>
                <c:pt idx="19">
                  <c:v>371155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0878-42F6-84BC-18A91F5C265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73135456"/>
        <c:axId val="473137024"/>
      </c:lineChart>
      <c:catAx>
        <c:axId val="47313820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  <c:crossAx val="473132712"/>
        <c:crosses val="autoZero"/>
        <c:auto val="1"/>
        <c:lblAlgn val="ctr"/>
        <c:lblOffset val="100"/>
        <c:noMultiLvlLbl val="0"/>
      </c:catAx>
      <c:valAx>
        <c:axId val="47313271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ja-JP"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ja-JP"/>
                  <a:t>QTY(db)</a:t>
                </a:r>
                <a:endParaRPr lang="ja-JP" altLang="en-US"/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_-* #\ ##0\ _F_t_-;\-* #\ ##0\ _F_t_-;_-* &quot;-&quot;??\ _F_t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  <c:crossAx val="473138200"/>
        <c:crosses val="autoZero"/>
        <c:crossBetween val="between"/>
      </c:valAx>
      <c:valAx>
        <c:axId val="473137024"/>
        <c:scaling>
          <c:orientation val="minMax"/>
        </c:scaling>
        <c:delete val="0"/>
        <c:axPos val="r"/>
        <c:numFmt formatCode="_-* #\ ##0\ _F_t_-;\-* #\ ##0\ _F_t_-;_-* &quot;-&quot;??\ _F_t_-;_-@_-" sourceLinked="1"/>
        <c:majorTickMark val="out"/>
        <c:minorTickMark val="none"/>
        <c:tickLblPos val="nextTo"/>
        <c:crossAx val="473135456"/>
        <c:crosses val="max"/>
        <c:crossBetween val="between"/>
      </c:valAx>
      <c:catAx>
        <c:axId val="473135456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47313702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13582296059592411"/>
          <c:y val="0.93245398315127792"/>
          <c:w val="0.79913045830608298"/>
          <c:h val="4.9829120300285121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u-H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2"/>
      </a:solidFill>
      <a:round/>
    </a:ln>
    <a:effectLst/>
  </c:spPr>
  <c:txPr>
    <a:bodyPr/>
    <a:lstStyle/>
    <a:p>
      <a:pPr>
        <a:defRPr/>
      </a:pPr>
      <a:endParaRPr lang="hu-HU"/>
    </a:p>
  </c:txPr>
  <c:externalData r:id="rId1">
    <c:autoUpdate val="1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lang="ja-JP"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hu-HU" altLang="ja-JP"/>
              <a:t>Csomagolt mennyiség (db) / Packed qty (pc)</a:t>
            </a:r>
            <a:endParaRPr lang="hu-HU" altLang="ja-JP" baseline="0"/>
          </a:p>
        </c:rich>
      </c:tx>
      <c:overlay val="0"/>
      <c:spPr>
        <a:noFill/>
        <a:ln>
          <a:noFill/>
        </a:ln>
        <a:effectLst/>
      </c:spPr>
    </c:title>
    <c:autoTitleDeleted val="0"/>
    <c:plotArea>
      <c:layout>
        <c:manualLayout>
          <c:layoutTarget val="inner"/>
          <c:xMode val="edge"/>
          <c:yMode val="edge"/>
          <c:x val="7.8051678418221471E-2"/>
          <c:y val="0.16712256507134543"/>
          <c:w val="0.86192394688882856"/>
          <c:h val="0.75309474611428273"/>
        </c:manualLayout>
      </c:layout>
      <c:barChart>
        <c:barDir val="col"/>
        <c:grouping val="clustered"/>
        <c:varyColors val="0"/>
        <c:ser>
          <c:idx val="0"/>
          <c:order val="3"/>
          <c:tx>
            <c:strRef>
              <c:f>'KFT Output packaging'!$G$8</c:f>
              <c:strCache>
                <c:ptCount val="1"/>
                <c:pt idx="0">
                  <c:v>Output Daily</c:v>
                </c:pt>
              </c:strCache>
            </c:strRef>
          </c:tx>
          <c:invertIfNegative val="0"/>
          <c:val>
            <c:numRef>
              <c:f>'KFT Output packaging'!$G$9:$G$32</c:f>
              <c:numCache>
                <c:formatCode>General</c:formatCode>
                <c:ptCount val="24"/>
                <c:pt idx="0">
                  <c:v>49491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3-20DC-4C27-A093-7207C39FAB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73139768"/>
        <c:axId val="473138984"/>
      </c:barChart>
      <c:lineChart>
        <c:grouping val="standard"/>
        <c:varyColors val="0"/>
        <c:ser>
          <c:idx val="1"/>
          <c:order val="0"/>
          <c:tx>
            <c:strRef>
              <c:f>'KFT Output packaging'!$E$8</c:f>
              <c:strCache>
                <c:ptCount val="1"/>
                <c:pt idx="0">
                  <c:v>Kimenet (kumulált) / Output (cumulative)</c:v>
                </c:pt>
              </c:strCache>
            </c:strRef>
          </c:tx>
          <c:spPr>
            <a:ln w="25400" cap="rnd">
              <a:solidFill>
                <a:srgbClr val="FFC000"/>
              </a:solidFill>
              <a:round/>
            </a:ln>
            <a:effectLst/>
          </c:spPr>
          <c:marker>
            <c:symbol val="none"/>
          </c:marker>
          <c:cat>
            <c:numRef>
              <c:f>'KFT Output packaging'!$A$9:$A$31</c:f>
              <c:numCache>
                <c:formatCode>General</c:formatCode>
                <c:ptCount val="23"/>
                <c:pt idx="0">
                  <c:v>1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18</c:v>
                </c:pt>
                <c:pt idx="12">
                  <c:v>19</c:v>
                </c:pt>
                <c:pt idx="13">
                  <c:v>21</c:v>
                </c:pt>
                <c:pt idx="14">
                  <c:v>22</c:v>
                </c:pt>
                <c:pt idx="15">
                  <c:v>25</c:v>
                </c:pt>
                <c:pt idx="16">
                  <c:v>26</c:v>
                </c:pt>
                <c:pt idx="17">
                  <c:v>27</c:v>
                </c:pt>
                <c:pt idx="18">
                  <c:v>28</c:v>
                </c:pt>
                <c:pt idx="19">
                  <c:v>29</c:v>
                </c:pt>
              </c:numCache>
            </c:numRef>
          </c:cat>
          <c:val>
            <c:numRef>
              <c:f>'KFT Output packaging'!$E$9:$E$31</c:f>
              <c:numCache>
                <c:formatCode>_-* #\ ##0\ _F_t_-;\-* #\ ##0\ _F_t_-;_-* "-"??\ _F_t_-;_-@_-</c:formatCode>
                <c:ptCount val="23"/>
                <c:pt idx="0">
                  <c:v>49491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092-4935-9174-64A67810BEF9}"/>
            </c:ext>
          </c:extLst>
        </c:ser>
        <c:ser>
          <c:idx val="4"/>
          <c:order val="2"/>
          <c:tx>
            <c:strRef>
              <c:f>'KFT Output packaging'!$D$8</c:f>
              <c:strCache>
                <c:ptCount val="1"/>
                <c:pt idx="0">
                  <c:v>Terv / Plan</c:v>
                </c:pt>
              </c:strCache>
            </c:strRef>
          </c:tx>
          <c:spPr>
            <a:ln w="25400">
              <a:solidFill>
                <a:schemeClr val="bg1">
                  <a:lumMod val="65000"/>
                </a:schemeClr>
              </a:solidFill>
            </a:ln>
          </c:spPr>
          <c:marker>
            <c:symbol val="none"/>
          </c:marker>
          <c:cat>
            <c:numRef>
              <c:f>'KFT Output packaging'!$A$9:$A$31</c:f>
              <c:numCache>
                <c:formatCode>General</c:formatCode>
                <c:ptCount val="23"/>
                <c:pt idx="0">
                  <c:v>1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18</c:v>
                </c:pt>
                <c:pt idx="12">
                  <c:v>19</c:v>
                </c:pt>
                <c:pt idx="13">
                  <c:v>21</c:v>
                </c:pt>
                <c:pt idx="14">
                  <c:v>22</c:v>
                </c:pt>
                <c:pt idx="15">
                  <c:v>25</c:v>
                </c:pt>
                <c:pt idx="16">
                  <c:v>26</c:v>
                </c:pt>
                <c:pt idx="17">
                  <c:v>27</c:v>
                </c:pt>
                <c:pt idx="18">
                  <c:v>28</c:v>
                </c:pt>
                <c:pt idx="19">
                  <c:v>29</c:v>
                </c:pt>
              </c:numCache>
            </c:numRef>
          </c:cat>
          <c:val>
            <c:numRef>
              <c:f>'KFT Output packaging'!$D$9:$D$31</c:f>
              <c:numCache>
                <c:formatCode>_-* #\ ##0\ _F_t_-;\-* #\ ##0\ _F_t_-;_-* "-"??\ _F_t_-;_-@_-</c:formatCode>
                <c:ptCount val="23"/>
                <c:pt idx="0">
                  <c:v>36713.25</c:v>
                </c:pt>
                <c:pt idx="1">
                  <c:v>73426.5</c:v>
                </c:pt>
                <c:pt idx="2">
                  <c:v>110139.75</c:v>
                </c:pt>
                <c:pt idx="3">
                  <c:v>146853</c:v>
                </c:pt>
                <c:pt idx="4">
                  <c:v>183566.25</c:v>
                </c:pt>
                <c:pt idx="5">
                  <c:v>220279.5</c:v>
                </c:pt>
                <c:pt idx="6">
                  <c:v>256992.75</c:v>
                </c:pt>
                <c:pt idx="7">
                  <c:v>293706</c:v>
                </c:pt>
                <c:pt idx="8">
                  <c:v>330419.25</c:v>
                </c:pt>
                <c:pt idx="9">
                  <c:v>367132.5</c:v>
                </c:pt>
                <c:pt idx="10">
                  <c:v>403845.75</c:v>
                </c:pt>
                <c:pt idx="11">
                  <c:v>440559</c:v>
                </c:pt>
                <c:pt idx="12">
                  <c:v>477272.25</c:v>
                </c:pt>
                <c:pt idx="13">
                  <c:v>513985.5</c:v>
                </c:pt>
                <c:pt idx="14">
                  <c:v>550698.75</c:v>
                </c:pt>
                <c:pt idx="15">
                  <c:v>587412</c:v>
                </c:pt>
                <c:pt idx="16">
                  <c:v>624125.25</c:v>
                </c:pt>
                <c:pt idx="17">
                  <c:v>660838.5</c:v>
                </c:pt>
                <c:pt idx="18">
                  <c:v>697551.75</c:v>
                </c:pt>
                <c:pt idx="19">
                  <c:v>734265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20DC-4C27-A093-7207C39FAB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73138592"/>
        <c:axId val="473134672"/>
      </c:lineChart>
      <c:lineChart>
        <c:grouping val="standard"/>
        <c:varyColors val="0"/>
        <c:ser>
          <c:idx val="3"/>
          <c:order val="1"/>
          <c:tx>
            <c:strRef>
              <c:f>'KFT Output packaging'!$B$8</c:f>
              <c:strCache>
                <c:ptCount val="1"/>
                <c:pt idx="0">
                  <c:v>Napi terv / Daily plan</c:v>
                </c:pt>
              </c:strCache>
            </c:strRef>
          </c:tx>
          <c:spPr>
            <a:ln w="25400">
              <a:solidFill>
                <a:schemeClr val="accent6"/>
              </a:solidFill>
            </a:ln>
          </c:spPr>
          <c:marker>
            <c:symbol val="none"/>
          </c:marker>
          <c:val>
            <c:numRef>
              <c:f>'KFT Output packaging'!$B$9:$B$31</c:f>
              <c:numCache>
                <c:formatCode>_-* #\ ##0\ _F_t_-;\-* #\ ##0\ _F_t_-;_-* "-"??\ _F_t_-;_-@_-</c:formatCode>
                <c:ptCount val="23"/>
                <c:pt idx="0">
                  <c:v>36713.25</c:v>
                </c:pt>
                <c:pt idx="1">
                  <c:v>36713.25</c:v>
                </c:pt>
                <c:pt idx="2">
                  <c:v>36713.25</c:v>
                </c:pt>
                <c:pt idx="3">
                  <c:v>36713.25</c:v>
                </c:pt>
                <c:pt idx="4">
                  <c:v>36713.25</c:v>
                </c:pt>
                <c:pt idx="5">
                  <c:v>36713.25</c:v>
                </c:pt>
                <c:pt idx="6">
                  <c:v>36713.25</c:v>
                </c:pt>
                <c:pt idx="7">
                  <c:v>36713.25</c:v>
                </c:pt>
                <c:pt idx="8">
                  <c:v>36713.25</c:v>
                </c:pt>
                <c:pt idx="9">
                  <c:v>36713.25</c:v>
                </c:pt>
                <c:pt idx="10">
                  <c:v>36713.25</c:v>
                </c:pt>
                <c:pt idx="11">
                  <c:v>36713.25</c:v>
                </c:pt>
                <c:pt idx="12">
                  <c:v>36713.25</c:v>
                </c:pt>
                <c:pt idx="13">
                  <c:v>36713.25</c:v>
                </c:pt>
                <c:pt idx="14">
                  <c:v>36713.25</c:v>
                </c:pt>
                <c:pt idx="15">
                  <c:v>36713.25</c:v>
                </c:pt>
                <c:pt idx="16">
                  <c:v>36713.25</c:v>
                </c:pt>
                <c:pt idx="17">
                  <c:v>36713.25</c:v>
                </c:pt>
                <c:pt idx="18">
                  <c:v>36713.25</c:v>
                </c:pt>
                <c:pt idx="19">
                  <c:v>36713.25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20DC-4C27-A093-7207C39FAB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73139768"/>
        <c:axId val="473138984"/>
      </c:lineChart>
      <c:catAx>
        <c:axId val="47313859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  <c:crossAx val="473134672"/>
        <c:crosses val="autoZero"/>
        <c:auto val="1"/>
        <c:lblAlgn val="ctr"/>
        <c:lblOffset val="100"/>
        <c:noMultiLvlLbl val="0"/>
      </c:catAx>
      <c:valAx>
        <c:axId val="47313467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lang="ja-JP"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altLang="ja-JP"/>
                  <a:t>QTY(db)</a:t>
                </a:r>
                <a:endParaRPr lang="ja-JP" altLang="en-US"/>
              </a:p>
            </c:rich>
          </c:tx>
          <c:overlay val="0"/>
          <c:spPr>
            <a:noFill/>
            <a:ln>
              <a:noFill/>
            </a:ln>
            <a:effectLst/>
          </c:spPr>
        </c:title>
        <c:numFmt formatCode="_-* #\ ##0\ _F_t_-;\-* #\ ##0\ _F_t_-;_-* &quot;-&quot;??\ _F_t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ja-JP"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  <c:crossAx val="473138592"/>
        <c:crosses val="autoZero"/>
        <c:crossBetween val="between"/>
      </c:valAx>
      <c:valAx>
        <c:axId val="473138984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crossAx val="473139768"/>
        <c:crosses val="max"/>
        <c:crossBetween val="between"/>
      </c:valAx>
      <c:catAx>
        <c:axId val="473139768"/>
        <c:scaling>
          <c:orientation val="minMax"/>
        </c:scaling>
        <c:delete val="1"/>
        <c:axPos val="b"/>
        <c:majorTickMark val="out"/>
        <c:minorTickMark val="none"/>
        <c:tickLblPos val="nextTo"/>
        <c:crossAx val="473138984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2550240950149131"/>
          <c:y val="0.96114509801401549"/>
          <c:w val="0.64242974714602263"/>
          <c:h val="3.4430053561502555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ja-JP"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u-H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chemeClr val="bg1"/>
    </a:solidFill>
    <a:ln w="9525" cap="flat" cmpd="sng" algn="ctr">
      <a:solidFill>
        <a:schemeClr val="tx2"/>
      </a:solidFill>
      <a:round/>
    </a:ln>
    <a:effectLst/>
  </c:spPr>
  <c:txPr>
    <a:bodyPr/>
    <a:lstStyle/>
    <a:p>
      <a:pPr>
        <a:defRPr/>
      </a:pPr>
      <a:endParaRPr lang="hu-HU"/>
    </a:p>
  </c:txPr>
  <c:externalData r:id="rId1">
    <c:autoUpdate val="1"/>
  </c:externalData>
</c:chartSpace>
</file>

<file path=ppt/charts/chart2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hu-HU"/>
              <a:t>Napi selejt kimutatás (%) /</a:t>
            </a:r>
            <a:r>
              <a:rPr lang="hu-HU" baseline="0"/>
              <a:t> Daily scrap (%)</a:t>
            </a:r>
            <a:endParaRPr lang="hu-HU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u-HU"/>
        </a:p>
      </c:txPr>
    </c:title>
    <c:autoTitleDeleted val="0"/>
    <c:plotArea>
      <c:layout>
        <c:manualLayout>
          <c:layoutTarget val="inner"/>
          <c:xMode val="edge"/>
          <c:yMode val="edge"/>
          <c:x val="8.2795374320480897E-2"/>
          <c:y val="0.12807835831041184"/>
          <c:w val="0.89272818412311172"/>
          <c:h val="0.70246252350607918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'Prod.Output Summ'!$Q$34</c:f>
              <c:strCache>
                <c:ptCount val="1"/>
                <c:pt idx="0">
                  <c:v>Napi / Daily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'Prod.Output Summ'!$S$30:$AO$30</c:f>
              <c:numCache>
                <c:formatCode>0</c:formatCode>
                <c:ptCount val="23"/>
                <c:pt idx="0">
                  <c:v>1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18</c:v>
                </c:pt>
                <c:pt idx="12">
                  <c:v>19</c:v>
                </c:pt>
                <c:pt idx="13">
                  <c:v>21</c:v>
                </c:pt>
                <c:pt idx="14">
                  <c:v>22</c:v>
                </c:pt>
                <c:pt idx="15">
                  <c:v>25</c:v>
                </c:pt>
                <c:pt idx="16">
                  <c:v>26</c:v>
                </c:pt>
                <c:pt idx="17">
                  <c:v>27</c:v>
                </c:pt>
                <c:pt idx="18">
                  <c:v>28</c:v>
                </c:pt>
                <c:pt idx="19">
                  <c:v>29</c:v>
                </c:pt>
              </c:numCache>
            </c:numRef>
          </c:cat>
          <c:val>
            <c:numRef>
              <c:f>'Prod.Output Summ'!$S$34:$AO$34</c:f>
              <c:numCache>
                <c:formatCode>0.00%</c:formatCode>
                <c:ptCount val="23"/>
                <c:pt idx="0">
                  <c:v>8.1380760231935167E-4</c:v>
                </c:pt>
                <c:pt idx="1">
                  <c:v>8.1380760231935167E-4</c:v>
                </c:pt>
                <c:pt idx="2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CD5-4B0F-9221-CFDF38E35A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472997136"/>
        <c:axId val="472993608"/>
      </c:barChart>
      <c:lineChart>
        <c:grouping val="standard"/>
        <c:varyColors val="0"/>
        <c:ser>
          <c:idx val="1"/>
          <c:order val="1"/>
          <c:tx>
            <c:strRef>
              <c:f>'Prod.Output Summ'!$Q$33</c:f>
              <c:strCache>
                <c:ptCount val="1"/>
                <c:pt idx="0">
                  <c:v>KUMULÁLT / Cumulative</c:v>
                </c:pt>
              </c:strCache>
            </c:strRef>
          </c:tx>
          <c:spPr>
            <a:ln w="28575" cap="rnd">
              <a:solidFill>
                <a:srgbClr val="FFC000"/>
              </a:solidFill>
              <a:round/>
            </a:ln>
            <a:effectLst/>
          </c:spPr>
          <c:marker>
            <c:symbol val="none"/>
          </c:marker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9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hu-HU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numRef>
              <c:f>'Prod.Output Summ'!$S$30:$AL$30</c:f>
              <c:numCache>
                <c:formatCode>0</c:formatCode>
                <c:ptCount val="20"/>
                <c:pt idx="0">
                  <c:v>1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18</c:v>
                </c:pt>
                <c:pt idx="12">
                  <c:v>19</c:v>
                </c:pt>
                <c:pt idx="13">
                  <c:v>21</c:v>
                </c:pt>
                <c:pt idx="14">
                  <c:v>22</c:v>
                </c:pt>
                <c:pt idx="15">
                  <c:v>25</c:v>
                </c:pt>
                <c:pt idx="16">
                  <c:v>26</c:v>
                </c:pt>
                <c:pt idx="17">
                  <c:v>27</c:v>
                </c:pt>
                <c:pt idx="18">
                  <c:v>28</c:v>
                </c:pt>
                <c:pt idx="19">
                  <c:v>29</c:v>
                </c:pt>
              </c:numCache>
            </c:numRef>
          </c:cat>
          <c:val>
            <c:numRef>
              <c:f>'Prod.Output Summ'!$S$33:$AL$33</c:f>
              <c:numCache>
                <c:formatCode>0.00%</c:formatCode>
                <c:ptCount val="20"/>
                <c:pt idx="0">
                  <c:v>8.1380760231935167E-4</c:v>
                </c:pt>
                <c:pt idx="1">
                  <c:v>0</c:v>
                </c:pt>
                <c:pt idx="2">
                  <c:v>0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DCD5-4B0F-9221-CFDF38E35A17}"/>
            </c:ext>
          </c:extLst>
        </c:ser>
        <c:ser>
          <c:idx val="2"/>
          <c:order val="2"/>
          <c:tx>
            <c:strRef>
              <c:f>'Prod.Output Summ'!$Q$35</c:f>
              <c:strCache>
                <c:ptCount val="1"/>
                <c:pt idx="0">
                  <c:v>Cél/Target</c:v>
                </c:pt>
              </c:strCache>
            </c:strRef>
          </c:tx>
          <c:spPr>
            <a:ln w="28575" cap="rnd">
              <a:solidFill>
                <a:srgbClr val="00B050"/>
              </a:solidFill>
              <a:round/>
            </a:ln>
            <a:effectLst/>
          </c:spPr>
          <c:marker>
            <c:symbol val="none"/>
          </c:marker>
          <c:cat>
            <c:numRef>
              <c:f>'Prod.Output Summ'!$S$30:$AL$30</c:f>
              <c:numCache>
                <c:formatCode>0</c:formatCode>
                <c:ptCount val="20"/>
                <c:pt idx="0">
                  <c:v>1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18</c:v>
                </c:pt>
                <c:pt idx="12">
                  <c:v>19</c:v>
                </c:pt>
                <c:pt idx="13">
                  <c:v>21</c:v>
                </c:pt>
                <c:pt idx="14">
                  <c:v>22</c:v>
                </c:pt>
                <c:pt idx="15">
                  <c:v>25</c:v>
                </c:pt>
                <c:pt idx="16">
                  <c:v>26</c:v>
                </c:pt>
                <c:pt idx="17">
                  <c:v>27</c:v>
                </c:pt>
                <c:pt idx="18">
                  <c:v>28</c:v>
                </c:pt>
                <c:pt idx="19">
                  <c:v>29</c:v>
                </c:pt>
              </c:numCache>
            </c:numRef>
          </c:cat>
          <c:val>
            <c:numRef>
              <c:f>'Prod.Output Summ'!$S$35:$AL$35</c:f>
              <c:numCache>
                <c:formatCode>0.00%</c:formatCode>
                <c:ptCount val="20"/>
                <c:pt idx="0">
                  <c:v>0.01</c:v>
                </c:pt>
                <c:pt idx="1">
                  <c:v>0.01</c:v>
                </c:pt>
                <c:pt idx="2">
                  <c:v>0.01</c:v>
                </c:pt>
                <c:pt idx="3">
                  <c:v>0.01</c:v>
                </c:pt>
                <c:pt idx="4">
                  <c:v>0.01</c:v>
                </c:pt>
                <c:pt idx="5">
                  <c:v>0.01</c:v>
                </c:pt>
                <c:pt idx="6">
                  <c:v>0.01</c:v>
                </c:pt>
                <c:pt idx="7">
                  <c:v>0.01</c:v>
                </c:pt>
                <c:pt idx="8">
                  <c:v>0.01</c:v>
                </c:pt>
                <c:pt idx="9">
                  <c:v>0.01</c:v>
                </c:pt>
                <c:pt idx="10">
                  <c:v>0.01</c:v>
                </c:pt>
                <c:pt idx="11">
                  <c:v>0.01</c:v>
                </c:pt>
                <c:pt idx="12">
                  <c:v>0.01</c:v>
                </c:pt>
                <c:pt idx="13">
                  <c:v>0.01</c:v>
                </c:pt>
                <c:pt idx="14">
                  <c:v>0.01</c:v>
                </c:pt>
                <c:pt idx="15">
                  <c:v>0.01</c:v>
                </c:pt>
                <c:pt idx="16">
                  <c:v>0.01</c:v>
                </c:pt>
                <c:pt idx="17">
                  <c:v>0.01</c:v>
                </c:pt>
                <c:pt idx="18">
                  <c:v>0.01</c:v>
                </c:pt>
                <c:pt idx="19">
                  <c:v>0.01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DCD5-4B0F-9221-CFDF38E35A1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472997136"/>
        <c:axId val="472993608"/>
      </c:lineChart>
      <c:catAx>
        <c:axId val="472997136"/>
        <c:scaling>
          <c:orientation val="minMax"/>
        </c:scaling>
        <c:delete val="0"/>
        <c:axPos val="b"/>
        <c:numFmt formatCode="0" sourceLinked="1"/>
        <c:majorTickMark val="out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  <c:crossAx val="472993608"/>
        <c:crosses val="autoZero"/>
        <c:auto val="1"/>
        <c:lblAlgn val="ctr"/>
        <c:lblOffset val="100"/>
        <c:noMultiLvlLbl val="1"/>
      </c:catAx>
      <c:valAx>
        <c:axId val="472993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  <c:crossAx val="47299713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u-H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solidFill>
        <a:schemeClr val="tx2"/>
      </a:solidFill>
    </a:ln>
    <a:effectLst/>
  </c:spPr>
  <c:txPr>
    <a:bodyPr/>
    <a:lstStyle/>
    <a:p>
      <a:pPr>
        <a:defRPr/>
      </a:pPr>
      <a:endParaRPr lang="hu-HU"/>
    </a:p>
  </c:txPr>
  <c:externalData r:id="rId3">
    <c:autoUpdate val="1"/>
  </c:externalData>
</c:chartSpace>
</file>

<file path=ppt/charts/chart2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hu-HU"/>
              <a:t>Létszám nyomonkövetés / Head count</a:t>
            </a:r>
            <a:r>
              <a:rPr lang="hu-HU" baseline="0"/>
              <a:t> monitoring</a:t>
            </a:r>
            <a:endParaRPr lang="hu-HU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u-HU"/>
        </a:p>
      </c:txPr>
    </c:title>
    <c:autoTitleDeleted val="0"/>
    <c:plotArea>
      <c:layout>
        <c:manualLayout>
          <c:layoutTarget val="inner"/>
          <c:xMode val="edge"/>
          <c:yMode val="edge"/>
          <c:x val="0.10323098888978452"/>
          <c:y val="7.2807065133808246E-2"/>
          <c:w val="0.86889570635383651"/>
          <c:h val="0.63613624219694664"/>
        </c:manualLayout>
      </c:layout>
      <c:barChart>
        <c:barDir val="col"/>
        <c:grouping val="clustered"/>
        <c:varyColors val="0"/>
        <c:ser>
          <c:idx val="1"/>
          <c:order val="0"/>
          <c:tx>
            <c:strRef>
              <c:f>Headcount!$B$9</c:f>
              <c:strCache>
                <c:ptCount val="1"/>
                <c:pt idx="0">
                  <c:v>Netto HC plan</c:v>
                </c:pt>
              </c:strCache>
            </c:strRef>
          </c:tx>
          <c:spPr>
            <a:solidFill>
              <a:schemeClr val="accent2"/>
            </a:solidFill>
            <a:ln>
              <a:solidFill>
                <a:srgbClr val="00B050"/>
              </a:solidFill>
            </a:ln>
            <a:effectLst/>
          </c:spPr>
          <c:invertIfNegative val="0"/>
          <c:cat>
            <c:numRef>
              <c:f>Headcount!$A$10:$A$32</c:f>
              <c:numCache>
                <c:formatCode>General</c:formatCode>
                <c:ptCount val="23"/>
                <c:pt idx="0">
                  <c:v>1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18</c:v>
                </c:pt>
                <c:pt idx="12">
                  <c:v>19</c:v>
                </c:pt>
                <c:pt idx="13">
                  <c:v>21</c:v>
                </c:pt>
                <c:pt idx="14">
                  <c:v>22</c:v>
                </c:pt>
                <c:pt idx="15">
                  <c:v>25</c:v>
                </c:pt>
                <c:pt idx="16">
                  <c:v>26</c:v>
                </c:pt>
                <c:pt idx="17">
                  <c:v>27</c:v>
                </c:pt>
                <c:pt idx="18">
                  <c:v>28</c:v>
                </c:pt>
                <c:pt idx="19">
                  <c:v>29</c:v>
                </c:pt>
              </c:numCache>
            </c:numRef>
          </c:cat>
          <c:val>
            <c:numRef>
              <c:f>Headcount!$B$10:$B$32</c:f>
              <c:numCache>
                <c:formatCode>_-* #\ ##0\ _F_t_-;\-* #\ ##0\ _F_t_-;_-* "-"??\ _F_t_-;_-@_-</c:formatCode>
                <c:ptCount val="23"/>
                <c:pt idx="0">
                  <c:v>29</c:v>
                </c:pt>
                <c:pt idx="1">
                  <c:v>29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3D-41C9-B227-F43DF82B9BCC}"/>
            </c:ext>
          </c:extLst>
        </c:ser>
        <c:ser>
          <c:idx val="3"/>
          <c:order val="1"/>
          <c:tx>
            <c:strRef>
              <c:f>Headcount!$F$9</c:f>
              <c:strCache>
                <c:ptCount val="1"/>
                <c:pt idx="0">
                  <c:v>Daily Actual HC</c:v>
                </c:pt>
              </c:strCache>
            </c:strRef>
          </c:tx>
          <c:spPr>
            <a:solidFill>
              <a:srgbClr val="0070C0"/>
            </a:solidFill>
            <a:ln>
              <a:solidFill>
                <a:srgbClr val="0070C0"/>
              </a:solidFill>
            </a:ln>
            <a:effectLst/>
          </c:spPr>
          <c:invertIfNegative val="0"/>
          <c:cat>
            <c:numRef>
              <c:f>Headcount!$A$10:$A$32</c:f>
              <c:numCache>
                <c:formatCode>General</c:formatCode>
                <c:ptCount val="23"/>
                <c:pt idx="0">
                  <c:v>1</c:v>
                </c:pt>
                <c:pt idx="1">
                  <c:v>4</c:v>
                </c:pt>
                <c:pt idx="2">
                  <c:v>5</c:v>
                </c:pt>
                <c:pt idx="3">
                  <c:v>6</c:v>
                </c:pt>
                <c:pt idx="4">
                  <c:v>7</c:v>
                </c:pt>
                <c:pt idx="5">
                  <c:v>8</c:v>
                </c:pt>
                <c:pt idx="6">
                  <c:v>11</c:v>
                </c:pt>
                <c:pt idx="7">
                  <c:v>12</c:v>
                </c:pt>
                <c:pt idx="8">
                  <c:v>13</c:v>
                </c:pt>
                <c:pt idx="9">
                  <c:v>14</c:v>
                </c:pt>
                <c:pt idx="10">
                  <c:v>15</c:v>
                </c:pt>
                <c:pt idx="11">
                  <c:v>18</c:v>
                </c:pt>
                <c:pt idx="12">
                  <c:v>19</c:v>
                </c:pt>
                <c:pt idx="13">
                  <c:v>21</c:v>
                </c:pt>
                <c:pt idx="14">
                  <c:v>22</c:v>
                </c:pt>
                <c:pt idx="15">
                  <c:v>25</c:v>
                </c:pt>
                <c:pt idx="16">
                  <c:v>26</c:v>
                </c:pt>
                <c:pt idx="17">
                  <c:v>27</c:v>
                </c:pt>
                <c:pt idx="18">
                  <c:v>28</c:v>
                </c:pt>
                <c:pt idx="19">
                  <c:v>29</c:v>
                </c:pt>
              </c:numCache>
            </c:numRef>
          </c:cat>
          <c:val>
            <c:numRef>
              <c:f>Headcount!$F$10:$F$32</c:f>
              <c:numCache>
                <c:formatCode>General</c:formatCode>
                <c:ptCount val="23"/>
                <c:pt idx="0">
                  <c:v>21</c:v>
                </c:pt>
                <c:pt idx="1">
                  <c:v>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2F3D-41C9-B227-F43DF82B9BCC}"/>
            </c:ext>
          </c:extLst>
        </c:ser>
        <c:ser>
          <c:idx val="4"/>
          <c:order val="4"/>
          <c:tx>
            <c:strRef>
              <c:f>Headcount!$J$9</c:f>
              <c:strCache>
                <c:ptCount val="1"/>
                <c:pt idx="0">
                  <c:v>FFC direct+indirect</c:v>
                </c:pt>
              </c:strCache>
            </c:strRef>
          </c:tx>
          <c:spPr>
            <a:solidFill>
              <a:srgbClr val="92D050"/>
            </a:solidFill>
            <a:ln>
              <a:noFill/>
            </a:ln>
            <a:effectLst/>
          </c:spPr>
          <c:invertIfNegative val="0"/>
          <c:val>
            <c:numRef>
              <c:f>Headcount!$J$10:$J$30</c:f>
              <c:numCache>
                <c:formatCode>General</c:formatCode>
                <c:ptCount val="21"/>
                <c:pt idx="0">
                  <c:v>24</c:v>
                </c:pt>
                <c:pt idx="1">
                  <c:v>24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6B-4CE1-97AB-D82B8D7679E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157727472"/>
        <c:axId val="157726296"/>
      </c:barChart>
      <c:lineChart>
        <c:grouping val="standard"/>
        <c:varyColors val="0"/>
        <c:ser>
          <c:idx val="0"/>
          <c:order val="2"/>
          <c:tx>
            <c:strRef>
              <c:f>Headcount!$L$9</c:f>
              <c:strCache>
                <c:ptCount val="1"/>
                <c:pt idx="0">
                  <c:v>Daily Actual HC AVG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val>
            <c:numRef>
              <c:f>Headcount!$L$10:$L$30</c:f>
              <c:numCache>
                <c:formatCode>0</c:formatCode>
                <c:ptCount val="21"/>
                <c:pt idx="0">
                  <c:v>21</c:v>
                </c:pt>
                <c:pt idx="1">
                  <c:v>19.5</c:v>
                </c:pt>
                <c:pt idx="2">
                  <c:v>9.75</c:v>
                </c:pt>
                <c:pt idx="3">
                  <c:v>4.875</c:v>
                </c:pt>
                <c:pt idx="4">
                  <c:v>2.4375</c:v>
                </c:pt>
                <c:pt idx="5">
                  <c:v>1.21875</c:v>
                </c:pt>
                <c:pt idx="6">
                  <c:v>0.609375</c:v>
                </c:pt>
                <c:pt idx="7">
                  <c:v>0.3046875</c:v>
                </c:pt>
                <c:pt idx="8">
                  <c:v>0.15234375</c:v>
                </c:pt>
                <c:pt idx="9">
                  <c:v>7.6171875E-2</c:v>
                </c:pt>
                <c:pt idx="10">
                  <c:v>3.80859375E-2</c:v>
                </c:pt>
                <c:pt idx="11">
                  <c:v>1.904296875E-2</c:v>
                </c:pt>
                <c:pt idx="12">
                  <c:v>9.521484375E-3</c:v>
                </c:pt>
                <c:pt idx="13">
                  <c:v>4.7607421875E-3</c:v>
                </c:pt>
                <c:pt idx="14">
                  <c:v>2.38037109375E-3</c:v>
                </c:pt>
                <c:pt idx="15">
                  <c:v>1.190185546875E-3</c:v>
                </c:pt>
                <c:pt idx="16">
                  <c:v>5.950927734375E-4</c:v>
                </c:pt>
                <c:pt idx="17">
                  <c:v>2.9754638671875E-4</c:v>
                </c:pt>
                <c:pt idx="18">
                  <c:v>1.48773193359375E-4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2F3D-41C9-B227-F43DF82B9BCC}"/>
            </c:ext>
          </c:extLst>
        </c:ser>
        <c:ser>
          <c:idx val="2"/>
          <c:order val="3"/>
          <c:tx>
            <c:strRef>
              <c:f>Headcount!$M$9</c:f>
              <c:strCache>
                <c:ptCount val="1"/>
                <c:pt idx="0">
                  <c:v>Daily HC plan AVG</c:v>
                </c:pt>
              </c:strCache>
            </c:strRef>
          </c:tx>
          <c:spPr>
            <a:ln w="28575" cap="rnd">
              <a:solidFill>
                <a:schemeClr val="accent4"/>
              </a:solidFill>
              <a:round/>
            </a:ln>
            <a:effectLst/>
          </c:spPr>
          <c:marker>
            <c:symbol val="circle"/>
            <c:size val="5"/>
            <c:spPr>
              <a:solidFill>
                <a:srgbClr val="FFC000"/>
              </a:solidFill>
              <a:ln w="9525">
                <a:solidFill>
                  <a:srgbClr val="FFC000"/>
                </a:solidFill>
              </a:ln>
              <a:effectLst/>
            </c:spPr>
          </c:marker>
          <c:val>
            <c:numRef>
              <c:f>Headcount!$M$10:$M$32</c:f>
              <c:numCache>
                <c:formatCode>0</c:formatCode>
                <c:ptCount val="23"/>
                <c:pt idx="0">
                  <c:v>29</c:v>
                </c:pt>
                <c:pt idx="1">
                  <c:v>29</c:v>
                </c:pt>
                <c:pt idx="2">
                  <c:v>29</c:v>
                </c:pt>
                <c:pt idx="3">
                  <c:v>29</c:v>
                </c:pt>
                <c:pt idx="4">
                  <c:v>29</c:v>
                </c:pt>
                <c:pt idx="5">
                  <c:v>29</c:v>
                </c:pt>
                <c:pt idx="6">
                  <c:v>29</c:v>
                </c:pt>
                <c:pt idx="7">
                  <c:v>29</c:v>
                </c:pt>
                <c:pt idx="8">
                  <c:v>29</c:v>
                </c:pt>
                <c:pt idx="9">
                  <c:v>29</c:v>
                </c:pt>
                <c:pt idx="10">
                  <c:v>29</c:v>
                </c:pt>
                <c:pt idx="11">
                  <c:v>29</c:v>
                </c:pt>
                <c:pt idx="12">
                  <c:v>29</c:v>
                </c:pt>
                <c:pt idx="13">
                  <c:v>29</c:v>
                </c:pt>
                <c:pt idx="14">
                  <c:v>29</c:v>
                </c:pt>
                <c:pt idx="15">
                  <c:v>29</c:v>
                </c:pt>
                <c:pt idx="16">
                  <c:v>29</c:v>
                </c:pt>
                <c:pt idx="17">
                  <c:v>29</c:v>
                </c:pt>
                <c:pt idx="18">
                  <c:v>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2F3D-41C9-B227-F43DF82B9BC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57727472"/>
        <c:axId val="157726296"/>
      </c:lineChart>
      <c:catAx>
        <c:axId val="15772747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  <c:crossAx val="157726296"/>
        <c:crosses val="autoZero"/>
        <c:auto val="1"/>
        <c:lblAlgn val="ctr"/>
        <c:lblOffset val="100"/>
        <c:noMultiLvlLbl val="0"/>
      </c:catAx>
      <c:valAx>
        <c:axId val="1577262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_-* #\ ##0\ _F_t_-;\-* #\ ##0\ _F_t_-;_-* &quot;-&quot;??\ _F_t_-;_-@_-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  <c:crossAx val="157727472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0.23169919017774271"/>
          <c:y val="0.85866424678692799"/>
          <c:w val="0.72870980038440247"/>
          <c:h val="7.3163843473125573E-2"/>
        </c:manualLayout>
      </c:layout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u-HU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hu-HU"/>
    </a:p>
  </c:txPr>
  <c:externalData r:id="rId3">
    <c:autoUpdate val="1"/>
  </c:externalData>
</c:chartSpace>
</file>

<file path=ppt/charts/chart2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u-HU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pivotSource>
    <c:name>[PR-12-01-03_Állásidő_regisztálás.xlsx]Havi állásidő riport!Kimutatás1</c:name>
    <c:fmtId val="86"/>
  </c:pivotSource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hu-HU" sz="1800" b="1"/>
              <a:t>2025. 08. Gépállás riport / 2025.08. Machine Downtime report  </a:t>
            </a:r>
            <a:endParaRPr lang="en-US" sz="1800" b="1"/>
          </a:p>
        </c:rich>
      </c:tx>
      <c:layout>
        <c:manualLayout>
          <c:xMode val="edge"/>
          <c:yMode val="edge"/>
          <c:x val="0.18249847684494663"/>
          <c:y val="3.0250009887822411E-2"/>
        </c:manualLayout>
      </c:layout>
      <c:overlay val="0"/>
      <c:spPr>
        <a:noFill/>
        <a:ln>
          <a:noFill/>
        </a:ln>
        <a:effectLst/>
      </c:spPr>
    </c:title>
    <c:autoTitleDeleted val="0"/>
    <c:pivotFmts>
      <c:pivotFmt>
        <c:idx val="0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</c:pivotFmt>
      <c:pivotFmt>
        <c:idx val="1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2"/>
        <c:spPr>
          <a:solidFill>
            <a:srgbClr val="FFFF00"/>
          </a:solidFill>
          <a:ln>
            <a:noFill/>
          </a:ln>
          <a:effectLst/>
        </c:spPr>
      </c:pivotFmt>
      <c:pivotFmt>
        <c:idx val="3"/>
        <c:spPr>
          <a:solidFill>
            <a:srgbClr val="FFFF00"/>
          </a:solidFill>
          <a:ln>
            <a:noFill/>
          </a:ln>
          <a:effectLst/>
        </c:spPr>
      </c:pivotFmt>
      <c:pivotFmt>
        <c:idx val="4"/>
        <c:spPr>
          <a:solidFill>
            <a:srgbClr val="FFFF00"/>
          </a:solidFill>
          <a:ln>
            <a:noFill/>
          </a:ln>
          <a:effectLst/>
        </c:spPr>
      </c:pivotFmt>
      <c:pivotFmt>
        <c:idx val="5"/>
        <c:spPr>
          <a:solidFill>
            <a:srgbClr val="FFFF00"/>
          </a:solidFill>
          <a:ln>
            <a:noFill/>
          </a:ln>
          <a:effectLst/>
        </c:spPr>
      </c:pivotFmt>
      <c:pivotFmt>
        <c:idx val="6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  <c:pivotFmt>
        <c:idx val="7"/>
        <c:spPr>
          <a:solidFill>
            <a:schemeClr val="accent1"/>
          </a:solidFill>
          <a:ln>
            <a:noFill/>
          </a:ln>
          <a:effectLst/>
        </c:spPr>
        <c:marker>
          <c:symbol val="none"/>
        </c:marker>
        <c:dLbl>
          <c:idx val="0"/>
          <c:delete val="1"/>
          <c:extLst>
            <c:ext xmlns:c15="http://schemas.microsoft.com/office/drawing/2012/chart" uri="{CE6537A1-D6FC-4f65-9D91-7224C49458BB}"/>
          </c:extLst>
        </c:dLbl>
      </c:pivotFmt>
    </c:pivotFmts>
    <c:plotArea>
      <c:layout>
        <c:manualLayout>
          <c:layoutTarget val="inner"/>
          <c:xMode val="edge"/>
          <c:yMode val="edge"/>
          <c:x val="9.1669944098284745E-2"/>
          <c:y val="0.10417869817969039"/>
          <c:w val="0.87039496625275314"/>
          <c:h val="0.56470983334030456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'Havi állásidő riport'!$C$4:$C$5</c:f>
              <c:strCache>
                <c:ptCount val="1"/>
                <c:pt idx="0">
                  <c:v>Összeg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'Havi állásidő riport'!$A$6:$B$6</c:f>
              <c:strCache>
                <c:ptCount val="1"/>
                <c:pt idx="0">
                  <c:v>Végösszeg</c:v>
                </c:pt>
              </c:strCache>
            </c:strRef>
          </c:cat>
          <c:val>
            <c:numRef>
              <c:f>'Havi állásidő riport'!$C$6</c:f>
              <c:numCache>
                <c:formatCode>0.00</c:formatCode>
                <c:ptCount val="1"/>
              </c:numCache>
            </c:numRef>
          </c:val>
          <c:extLst>
            <c:ext xmlns:c16="http://schemas.microsoft.com/office/drawing/2014/chart" uri="{C3380CC4-5D6E-409C-BE32-E72D297353CC}">
              <c16:uniqueId val="{00000000-6624-4FA9-824D-E3B369B5BDE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96"/>
        <c:overlap val="-27"/>
        <c:axId val="349355136"/>
        <c:axId val="349355696"/>
      </c:barChart>
      <c:catAx>
        <c:axId val="349355136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  <c:crossAx val="349355696"/>
        <c:crosses val="autoZero"/>
        <c:auto val="1"/>
        <c:lblAlgn val="ctr"/>
        <c:lblOffset val="100"/>
        <c:noMultiLvlLbl val="0"/>
      </c:catAx>
      <c:valAx>
        <c:axId val="34935569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1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100"/>
                  <a:t>Óra / hrs</a:t>
                </a:r>
              </a:p>
            </c:rich>
          </c:tx>
          <c:layout>
            <c:manualLayout>
              <c:xMode val="edge"/>
              <c:yMode val="edge"/>
              <c:x val="1.09583964978331E-2"/>
              <c:y val="0.36412847846137458"/>
            </c:manualLayout>
          </c:layout>
          <c:overlay val="0"/>
          <c:spPr>
            <a:noFill/>
            <a:ln>
              <a:noFill/>
            </a:ln>
            <a:effectLst/>
          </c:sp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u-HU"/>
          </a:p>
        </c:txPr>
        <c:crossAx val="34935513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bg1"/>
    </a:solidFill>
    <a:ln w="9525" cap="flat" cmpd="sng" algn="ctr">
      <a:solidFill>
        <a:schemeClr val="tx1">
          <a:lumMod val="15000"/>
          <a:lumOff val="85000"/>
        </a:schemeClr>
      </a:solidFill>
      <a:round/>
    </a:ln>
    <a:effectLst/>
  </c:spPr>
  <c:txPr>
    <a:bodyPr/>
    <a:lstStyle/>
    <a:p>
      <a:pPr>
        <a:defRPr sz="1050"/>
      </a:pPr>
      <a:endParaRPr lang="hu-HU"/>
    </a:p>
  </c:txPr>
  <c:externalData r:id="rId1">
    <c:autoUpdate val="0"/>
  </c:externalData>
  <c:extLst>
    <c:ext xmlns:c14="http://schemas.microsoft.com/office/drawing/2007/8/2/chart" uri="{781A3756-C4B2-4CAC-9D66-4F8BD8637D16}">
      <c14:pivotOptions>
        <c14:dropZoneFilter val="1"/>
        <c14:dropZoneCategories val="1"/>
        <c14:dropZoneData val="1"/>
        <c14:dropZonesVisible val="1"/>
      </c14:pivotOptions>
    </c:ext>
    <c:ext xmlns:c16="http://schemas.microsoft.com/office/drawing/2014/chart" uri="{E28EC0CA-F0BB-4C9C-879D-F8772B89E7AC}">
      <c16:pivotOptions16>
        <c16:showExpandCollapseFieldButtons val="1"/>
      </c16:pivotOptions16>
    </c:ext>
  </c:extLst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4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5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6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8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9.xml><?xml version="1.0" encoding="utf-8"?>
<cs:chartStyle xmlns:cs="http://schemas.microsoft.com/office/drawing/2012/chartStyle" xmlns:a="http://schemas.openxmlformats.org/drawingml/2006/main" id="22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jpe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78FE46D-C7CA-71F5-EC03-E9DEC561AF7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71728D63-7235-D36B-D515-B9AC7AB675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/>
              <a:t>Kattintson ide az alcím mintájának szerkesztéséhez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570BD46-A375-7E39-BF53-A3FE25478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F6015-1751-415D-AC54-B73CD9004EAC}" type="datetimeFigureOut">
              <a:rPr lang="hu-HU" smtClean="0"/>
              <a:t>2025. 08. 04.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FB12F01C-D3A8-02E7-313A-219E1062F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7D464788-994E-0834-8B7E-ABA755016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92EAB-EE61-4155-9EC9-526EF3AA5A5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819050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22740897-6B5D-1E17-B714-22A9FBBA97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A8B9ADAB-363C-86CA-1C28-889F6DF3E0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DEDEC96-F0F2-09F0-54CC-886DE5EA8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F6015-1751-415D-AC54-B73CD9004EAC}" type="datetimeFigureOut">
              <a:rPr lang="hu-HU" smtClean="0"/>
              <a:t>2025. 08. 04.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1C86BD50-4644-D457-E2BB-B7A6586F3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D39A2266-E26E-800B-B804-4498396AC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92EAB-EE61-4155-9EC9-526EF3AA5A5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418538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CB4BD24-928B-7B63-636E-F6FB236A32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5B2D5031-A4DA-D107-AA84-A88BFDDEB7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26C42D3C-7EBA-EFC9-2E05-B84648C811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F6015-1751-415D-AC54-B73CD9004EAC}" type="datetimeFigureOut">
              <a:rPr lang="hu-HU" smtClean="0"/>
              <a:t>2025. 08. 04.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E7412D7E-44BB-5831-4A04-455BA7507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C9817AB-7CC5-389A-C1A9-856B50FDD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92EAB-EE61-4155-9EC9-526EF3AA5A5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713595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5B2BB5E-7365-DC2C-978A-7D910547E2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19A27DC-7FF9-4861-BFD3-1280698EB9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91EBF19A-0B25-BAB8-9A1C-E7CA9CDDEB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923498FC-F7FE-137F-7E7D-D7910CB22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F6015-1751-415D-AC54-B73CD9004EAC}" type="datetimeFigureOut">
              <a:rPr lang="hu-HU" smtClean="0"/>
              <a:t>2025. 08. 04.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C9EA0EBB-0346-44EF-6B74-BC2D39E349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0DE7C329-AD27-B9DF-7906-4B0C6C56F9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92EAB-EE61-4155-9EC9-526EF3AA5A5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6932422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4838CF3-E54D-A8C3-7C13-032FE53496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9536B4C8-2028-5640-FBEE-085E7726454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Tartalom helye 3">
            <a:extLst>
              <a:ext uri="{FF2B5EF4-FFF2-40B4-BE49-F238E27FC236}">
                <a16:creationId xmlns:a16="http://schemas.microsoft.com/office/drawing/2014/main" id="{F8F3E296-636C-98D0-D9A1-9F26F59E39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5" name="Szöveg helye 4">
            <a:extLst>
              <a:ext uri="{FF2B5EF4-FFF2-40B4-BE49-F238E27FC236}">
                <a16:creationId xmlns:a16="http://schemas.microsoft.com/office/drawing/2014/main" id="{69F47B70-58D3-291F-EA82-4BA5B931867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Tartalom helye 5">
            <a:extLst>
              <a:ext uri="{FF2B5EF4-FFF2-40B4-BE49-F238E27FC236}">
                <a16:creationId xmlns:a16="http://schemas.microsoft.com/office/drawing/2014/main" id="{E6488454-C6A7-DCC7-E782-C28AAF681F4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7" name="Dátum helye 6">
            <a:extLst>
              <a:ext uri="{FF2B5EF4-FFF2-40B4-BE49-F238E27FC236}">
                <a16:creationId xmlns:a16="http://schemas.microsoft.com/office/drawing/2014/main" id="{AAF0BCA0-A233-9733-38F2-66F5F08A25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F6015-1751-415D-AC54-B73CD9004EAC}" type="datetimeFigureOut">
              <a:rPr lang="hu-HU" smtClean="0"/>
              <a:t>2025. 08. 04.</a:t>
            </a:fld>
            <a:endParaRPr lang="hu-HU"/>
          </a:p>
        </p:txBody>
      </p:sp>
      <p:sp>
        <p:nvSpPr>
          <p:cNvPr id="8" name="Élőláb helye 7">
            <a:extLst>
              <a:ext uri="{FF2B5EF4-FFF2-40B4-BE49-F238E27FC236}">
                <a16:creationId xmlns:a16="http://schemas.microsoft.com/office/drawing/2014/main" id="{2708B060-5B00-B1CD-7CF9-A2233E158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>
            <a:extLst>
              <a:ext uri="{FF2B5EF4-FFF2-40B4-BE49-F238E27FC236}">
                <a16:creationId xmlns:a16="http://schemas.microsoft.com/office/drawing/2014/main" id="{D45DD886-A4E9-6DE6-46D7-3F146736E4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92EAB-EE61-4155-9EC9-526EF3AA5A5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888448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07B7989-21D0-DF30-10E5-827372E5A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Dátum helye 2">
            <a:extLst>
              <a:ext uri="{FF2B5EF4-FFF2-40B4-BE49-F238E27FC236}">
                <a16:creationId xmlns:a16="http://schemas.microsoft.com/office/drawing/2014/main" id="{8C58ED13-9AD4-5852-BB55-69B2CE437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F6015-1751-415D-AC54-B73CD9004EAC}" type="datetimeFigureOut">
              <a:rPr lang="hu-HU" smtClean="0"/>
              <a:t>2025. 08. 04.</a:t>
            </a:fld>
            <a:endParaRPr lang="hu-HU"/>
          </a:p>
        </p:txBody>
      </p:sp>
      <p:sp>
        <p:nvSpPr>
          <p:cNvPr id="4" name="Élőláb helye 3">
            <a:extLst>
              <a:ext uri="{FF2B5EF4-FFF2-40B4-BE49-F238E27FC236}">
                <a16:creationId xmlns:a16="http://schemas.microsoft.com/office/drawing/2014/main" id="{789D1278-FE5F-F491-0BF7-88CD1A32CE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>
            <a:extLst>
              <a:ext uri="{FF2B5EF4-FFF2-40B4-BE49-F238E27FC236}">
                <a16:creationId xmlns:a16="http://schemas.microsoft.com/office/drawing/2014/main" id="{2053ED19-5E7A-D34D-AA99-464B9D4E38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92EAB-EE61-4155-9EC9-526EF3AA5A5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772812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>
            <a:extLst>
              <a:ext uri="{FF2B5EF4-FFF2-40B4-BE49-F238E27FC236}">
                <a16:creationId xmlns:a16="http://schemas.microsoft.com/office/drawing/2014/main" id="{20073716-0F7E-008B-78C9-9751639027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F6015-1751-415D-AC54-B73CD9004EAC}" type="datetimeFigureOut">
              <a:rPr lang="hu-HU" smtClean="0"/>
              <a:t>2025. 08. 04.</a:t>
            </a:fld>
            <a:endParaRPr lang="hu-HU"/>
          </a:p>
        </p:txBody>
      </p:sp>
      <p:sp>
        <p:nvSpPr>
          <p:cNvPr id="3" name="Élőláb helye 2">
            <a:extLst>
              <a:ext uri="{FF2B5EF4-FFF2-40B4-BE49-F238E27FC236}">
                <a16:creationId xmlns:a16="http://schemas.microsoft.com/office/drawing/2014/main" id="{2CD96F87-90BD-479F-8F6A-D17F17F0C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>
            <a:extLst>
              <a:ext uri="{FF2B5EF4-FFF2-40B4-BE49-F238E27FC236}">
                <a16:creationId xmlns:a16="http://schemas.microsoft.com/office/drawing/2014/main" id="{A0AB051D-E1F6-B2D5-C6D2-48798B473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92EAB-EE61-4155-9EC9-526EF3AA5A5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943781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B9F5F80-12C9-0F93-5C62-04EBDEA6B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58C1E73-0264-F9B4-431C-006B53B8AD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34539FA7-1ABD-8F7A-6500-3FF994EEFA0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68433C50-8E06-7BF9-62AB-DD427EB507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F6015-1751-415D-AC54-B73CD9004EAC}" type="datetimeFigureOut">
              <a:rPr lang="hu-HU" smtClean="0"/>
              <a:t>2025. 08. 04.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1F62A085-D072-9D13-D2D5-205A3A2A5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087292A7-69E6-95C3-56A5-152426C76C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92EAB-EE61-4155-9EC9-526EF3AA5A5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416891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02BC18D-4F42-A93E-A60D-98781CFCF0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/>
              <a:t>Mintacím szerkesztése</a:t>
            </a:r>
          </a:p>
        </p:txBody>
      </p:sp>
      <p:sp>
        <p:nvSpPr>
          <p:cNvPr id="3" name="Kép helye 2">
            <a:extLst>
              <a:ext uri="{FF2B5EF4-FFF2-40B4-BE49-F238E27FC236}">
                <a16:creationId xmlns:a16="http://schemas.microsoft.com/office/drawing/2014/main" id="{C76D368B-F9B4-B5C0-624C-411F6486D02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>
            <a:extLst>
              <a:ext uri="{FF2B5EF4-FFF2-40B4-BE49-F238E27FC236}">
                <a16:creationId xmlns:a16="http://schemas.microsoft.com/office/drawing/2014/main" id="{A27DF43C-1DFD-1F7E-4836-94C478643B1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átum helye 4">
            <a:extLst>
              <a:ext uri="{FF2B5EF4-FFF2-40B4-BE49-F238E27FC236}">
                <a16:creationId xmlns:a16="http://schemas.microsoft.com/office/drawing/2014/main" id="{14AEE26F-3C5D-DDA4-2674-2BA27D7B87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F6015-1751-415D-AC54-B73CD9004EAC}" type="datetimeFigureOut">
              <a:rPr lang="hu-HU" smtClean="0"/>
              <a:t>2025. 08. 04.</a:t>
            </a:fld>
            <a:endParaRPr lang="hu-HU"/>
          </a:p>
        </p:txBody>
      </p:sp>
      <p:sp>
        <p:nvSpPr>
          <p:cNvPr id="6" name="Élőláb helye 5">
            <a:extLst>
              <a:ext uri="{FF2B5EF4-FFF2-40B4-BE49-F238E27FC236}">
                <a16:creationId xmlns:a16="http://schemas.microsoft.com/office/drawing/2014/main" id="{5F0C2C7F-B11A-0AC3-C7EE-07236E53C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>
            <a:extLst>
              <a:ext uri="{FF2B5EF4-FFF2-40B4-BE49-F238E27FC236}">
                <a16:creationId xmlns:a16="http://schemas.microsoft.com/office/drawing/2014/main" id="{B1651355-F9F4-EA05-930D-E8226D854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92EAB-EE61-4155-9EC9-526EF3AA5A5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0065744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7C187BA-FD4F-A2DF-C87E-B4C911F3E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F35CAAAF-4938-911E-262B-52D0DC5BF5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EF21AF4-5099-3017-DF4E-9E55EAC8B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F6015-1751-415D-AC54-B73CD9004EAC}" type="datetimeFigureOut">
              <a:rPr lang="hu-HU" smtClean="0"/>
              <a:t>2025. 08. 04.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0071A67B-27DE-193D-07B2-E01DA3A449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CA87E483-E8F4-66C0-283E-4E0A23D931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92EAB-EE61-4155-9EC9-526EF3AA5A5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118204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>
            <a:extLst>
              <a:ext uri="{FF2B5EF4-FFF2-40B4-BE49-F238E27FC236}">
                <a16:creationId xmlns:a16="http://schemas.microsoft.com/office/drawing/2014/main" id="{08134D4A-BF6F-33C9-7743-4BCD73D2B0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/>
              <a:t>Mintacím szerkesztése</a:t>
            </a:r>
          </a:p>
        </p:txBody>
      </p:sp>
      <p:sp>
        <p:nvSpPr>
          <p:cNvPr id="3" name="Függőleges szöveg helye 2">
            <a:extLst>
              <a:ext uri="{FF2B5EF4-FFF2-40B4-BE49-F238E27FC236}">
                <a16:creationId xmlns:a16="http://schemas.microsoft.com/office/drawing/2014/main" id="{4863AC3D-0195-F1DE-B9F7-0921FDAA95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A4B2292B-BA0D-75C8-9F79-D9DEACA01A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F6015-1751-415D-AC54-B73CD9004EAC}" type="datetimeFigureOut">
              <a:rPr lang="hu-HU" smtClean="0"/>
              <a:t>2025. 08. 04.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352F2E8A-DA52-70B2-6D07-1AB1827761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6CC26370-3EE6-C357-12E6-01AA5D14E2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292EAB-EE61-4155-9EC9-526EF3AA5A5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6825267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87767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Picture 2"/>
          <p:cNvPicPr>
            <a:picLocks noChangeAspect="1" noChangeArrowheads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848851" y="5541964"/>
            <a:ext cx="2338916" cy="1316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05318" y="203200"/>
            <a:ext cx="1962149" cy="420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テキスト プレースホルダー 4"/>
          <p:cNvSpPr>
            <a:spLocks noGrp="1"/>
          </p:cNvSpPr>
          <p:nvPr>
            <p:ph type="body" sz="quarter" idx="10" hasCustomPrompt="1"/>
          </p:nvPr>
        </p:nvSpPr>
        <p:spPr>
          <a:xfrm>
            <a:off x="1506211" y="2700410"/>
            <a:ext cx="9222236" cy="725696"/>
          </a:xfrm>
        </p:spPr>
        <p:txBody>
          <a:bodyPr/>
          <a:lstStyle>
            <a:lvl1pPr marL="0" indent="0">
              <a:buNone/>
              <a:defRPr sz="4000" b="1" baseline="0">
                <a:solidFill>
                  <a:schemeClr val="bg1"/>
                </a:solidFill>
              </a:defRPr>
            </a:lvl1pPr>
          </a:lstStyle>
          <a:p>
            <a:r>
              <a:rPr kumimoji="1" lang="en-US" altLang="ja-JP" dirty="0"/>
              <a:t>PRESENTATION TITLE</a:t>
            </a:r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2" hasCustomPrompt="1"/>
          </p:nvPr>
        </p:nvSpPr>
        <p:spPr>
          <a:xfrm>
            <a:off x="1506211" y="5842925"/>
            <a:ext cx="5253405" cy="267563"/>
          </a:xfrm>
        </p:spPr>
        <p:txBody>
          <a:bodyPr/>
          <a:lstStyle>
            <a:lvl1pPr marL="0" indent="0">
              <a:buNone/>
              <a:defRPr sz="1400" baseline="0">
                <a:solidFill>
                  <a:srgbClr val="000000"/>
                </a:solidFill>
              </a:defRPr>
            </a:lvl1pPr>
          </a:lstStyle>
          <a:p>
            <a:r>
              <a:rPr kumimoji="1" lang="en-US" altLang="ja-JP" dirty="0"/>
              <a:t>Your name, title, etc.</a:t>
            </a:r>
            <a:endParaRPr kumimoji="1" lang="ja-JP" altLang="en-US" dirty="0"/>
          </a:p>
        </p:txBody>
      </p:sp>
      <p:sp>
        <p:nvSpPr>
          <p:cNvPr id="8" name="テキスト プレースホルダー 7"/>
          <p:cNvSpPr>
            <a:spLocks noGrp="1"/>
          </p:cNvSpPr>
          <p:nvPr>
            <p:ph type="body" sz="quarter" idx="13" hasCustomPrompt="1"/>
          </p:nvPr>
        </p:nvSpPr>
        <p:spPr>
          <a:xfrm>
            <a:off x="1506211" y="6095458"/>
            <a:ext cx="5253405" cy="267563"/>
          </a:xfrm>
        </p:spPr>
        <p:txBody>
          <a:bodyPr/>
          <a:lstStyle>
            <a:lvl1pPr marL="0" indent="0">
              <a:buNone/>
              <a:defRPr sz="1400">
                <a:solidFill>
                  <a:srgbClr val="000000"/>
                </a:solidFill>
              </a:defRPr>
            </a:lvl1pPr>
          </a:lstStyle>
          <a:p>
            <a:r>
              <a:rPr kumimoji="1" lang="en-US" altLang="ja-JP" dirty="0"/>
              <a:t>Date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53688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>
            <a:extLst>
              <a:ext uri="{FF2B5EF4-FFF2-40B4-BE49-F238E27FC236}">
                <a16:creationId xmlns:a16="http://schemas.microsoft.com/office/drawing/2014/main" id="{F98D5B5D-633F-C7D0-CCD9-BEFE13EA19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3DE0B60A-72F5-872D-2F95-41DAF3350C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</a:p>
        </p:txBody>
      </p:sp>
      <p:sp>
        <p:nvSpPr>
          <p:cNvPr id="4" name="Dátum helye 3">
            <a:extLst>
              <a:ext uri="{FF2B5EF4-FFF2-40B4-BE49-F238E27FC236}">
                <a16:creationId xmlns:a16="http://schemas.microsoft.com/office/drawing/2014/main" id="{E3BC6DE4-E3C0-E8AA-D5A5-314AFADA17B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1F6015-1751-415D-AC54-B73CD9004EAC}" type="datetimeFigureOut">
              <a:rPr lang="hu-HU" smtClean="0"/>
              <a:t>2025. 08. 04.</a:t>
            </a:fld>
            <a:endParaRPr lang="hu-HU"/>
          </a:p>
        </p:txBody>
      </p:sp>
      <p:sp>
        <p:nvSpPr>
          <p:cNvPr id="5" name="Élőláb helye 4">
            <a:extLst>
              <a:ext uri="{FF2B5EF4-FFF2-40B4-BE49-F238E27FC236}">
                <a16:creationId xmlns:a16="http://schemas.microsoft.com/office/drawing/2014/main" id="{DA4F9160-0B7D-201B-E146-5804D722FC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>
            <a:extLst>
              <a:ext uri="{FF2B5EF4-FFF2-40B4-BE49-F238E27FC236}">
                <a16:creationId xmlns:a16="http://schemas.microsoft.com/office/drawing/2014/main" id="{34BED6A7-8232-E662-AD59-F63CF10D58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292EAB-EE61-4155-9EC9-526EF3AA5A5F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489191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chart" Target="../charts/char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3.xml"/><Relationship Id="rId6" Type="http://schemas.openxmlformats.org/officeDocument/2006/relationships/chart" Target="../charts/chart5.xml"/><Relationship Id="rId5" Type="http://schemas.openxmlformats.org/officeDocument/2006/relationships/chart" Target="../charts/chart4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4.xml"/><Relationship Id="rId5" Type="http://schemas.openxmlformats.org/officeDocument/2006/relationships/chart" Target="../charts/chart6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5.xml"/><Relationship Id="rId6" Type="http://schemas.openxmlformats.org/officeDocument/2006/relationships/chart" Target="../charts/chart8.xml"/><Relationship Id="rId5" Type="http://schemas.openxmlformats.org/officeDocument/2006/relationships/image" Target="../media/image4.png"/><Relationship Id="rId4" Type="http://schemas.openxmlformats.org/officeDocument/2006/relationships/chart" Target="../charts/char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6.xml"/><Relationship Id="rId5" Type="http://schemas.openxmlformats.org/officeDocument/2006/relationships/chart" Target="../charts/chart9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7.xml"/><Relationship Id="rId6" Type="http://schemas.openxmlformats.org/officeDocument/2006/relationships/chart" Target="../charts/chart11.xml"/><Relationship Id="rId5" Type="http://schemas.openxmlformats.org/officeDocument/2006/relationships/chart" Target="../charts/chart10.xml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8.xml"/><Relationship Id="rId5" Type="http://schemas.openxmlformats.org/officeDocument/2006/relationships/chart" Target="../charts/chart12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9.xml"/><Relationship Id="rId6" Type="http://schemas.openxmlformats.org/officeDocument/2006/relationships/chart" Target="../charts/chart14.xml"/><Relationship Id="rId5" Type="http://schemas.openxmlformats.org/officeDocument/2006/relationships/chart" Target="../charts/chart13.xml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1" Type="http://schemas.openxmlformats.org/officeDocument/2006/relationships/tags" Target="../tags/tag10.xml"/><Relationship Id="rId5" Type="http://schemas.openxmlformats.org/officeDocument/2006/relationships/chart" Target="../charts/chart15.xml"/><Relationship Id="rId4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5" Type="http://schemas.openxmlformats.org/officeDocument/2006/relationships/chart" Target="../charts/chart17.xml"/><Relationship Id="rId4" Type="http://schemas.openxmlformats.org/officeDocument/2006/relationships/chart" Target="../charts/chart1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1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hart" Target="../charts/chart19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0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テキスト プレースホルダー 4"/>
          <p:cNvSpPr>
            <a:spLocks noGrp="1"/>
          </p:cNvSpPr>
          <p:nvPr>
            <p:ph type="body" sz="quarter" idx="10"/>
          </p:nvPr>
        </p:nvSpPr>
        <p:spPr>
          <a:xfrm>
            <a:off x="492043" y="1997560"/>
            <a:ext cx="10600028" cy="1431440"/>
          </a:xfrm>
        </p:spPr>
        <p:txBody>
          <a:bodyPr>
            <a:normAutofit fontScale="92500" lnSpcReduction="20000"/>
          </a:bodyPr>
          <a:lstStyle/>
          <a:p>
            <a:pPr algn="ctr"/>
            <a:r>
              <a:rPr lang="hu-HU" altLang="ja-JP" sz="5400" dirty="0">
                <a:latin typeface="+mn-ea"/>
              </a:rPr>
              <a:t>FFC gyártási mutatók </a:t>
            </a:r>
          </a:p>
          <a:p>
            <a:pPr algn="ctr"/>
            <a:r>
              <a:rPr lang="hu-HU" altLang="ja-JP" sz="5400" dirty="0">
                <a:latin typeface="+mn-ea"/>
              </a:rPr>
              <a:t>(gépes terület)</a:t>
            </a:r>
            <a:endParaRPr lang="hu-HU" altLang="ja-JP" sz="4400" dirty="0">
              <a:latin typeface="+mn-ea"/>
            </a:endParaRPr>
          </a:p>
        </p:txBody>
      </p:sp>
      <p:sp>
        <p:nvSpPr>
          <p:cNvPr id="8" name="コンテンツ プレースホルダー 3">
            <a:extLst>
              <a:ext uri="{FF2B5EF4-FFF2-40B4-BE49-F238E27FC236}">
                <a16:creationId xmlns:a16="http://schemas.microsoft.com/office/drawing/2014/main" id="{915D9520-4960-42FD-BF61-F499ECC95BEA}"/>
              </a:ext>
            </a:extLst>
          </p:cNvPr>
          <p:cNvSpPr txBox="1">
            <a:spLocks/>
          </p:cNvSpPr>
          <p:nvPr/>
        </p:nvSpPr>
        <p:spPr>
          <a:xfrm>
            <a:off x="1386547" y="5721331"/>
            <a:ext cx="4405510" cy="464993"/>
          </a:xfrm>
          <a:prstGeom prst="rect">
            <a:avLst/>
          </a:prstGeom>
        </p:spPr>
        <p:txBody>
          <a:bodyPr/>
          <a:lstStyle>
            <a:lvl1pPr marL="0" indent="0" algn="l" defTabSz="457200" rtl="0" eaLnBrk="1" fontAlgn="base" hangingPunct="1">
              <a:spcBef>
                <a:spcPct val="0"/>
              </a:spcBef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None/>
              <a:defRPr kumimoji="1" sz="21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1pPr>
            <a:lvl2pPr marL="742950" indent="-377825" algn="l" defTabSz="457200" rtl="0" eaLnBrk="1" fontAlgn="base" hangingPunct="1">
              <a:spcBef>
                <a:spcPct val="0"/>
              </a:spcBef>
              <a:spcAft>
                <a:spcPts val="600"/>
              </a:spcAft>
              <a:buClr>
                <a:schemeClr val="bg1"/>
              </a:buClr>
              <a:buFont typeface="Wingdings" panose="05000000000000000000" pitchFamily="2" charset="2"/>
              <a:buChar char="l"/>
              <a:defRPr kumimoji="1"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fontAlgn="base" hangingPunct="1">
              <a:spcBef>
                <a:spcPct val="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•"/>
              <a:defRPr kumimoji="1"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fontAlgn="base" hangingPunct="1">
              <a:spcBef>
                <a:spcPct val="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–"/>
              <a:defRPr kumimoji="1"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fontAlgn="base" hangingPunct="1">
              <a:spcBef>
                <a:spcPct val="0"/>
              </a:spcBef>
              <a:spcAft>
                <a:spcPts val="600"/>
              </a:spcAft>
              <a:buClr>
                <a:schemeClr val="bg1"/>
              </a:buClr>
              <a:buFont typeface="Arial" panose="020B0604020202020204" pitchFamily="34" charset="0"/>
              <a:buChar char="»"/>
              <a:defRPr kumimoji="1" sz="1600" kern="1200">
                <a:solidFill>
                  <a:srgbClr val="000000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kumimoji="1"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ja-JP" dirty="0"/>
              <a:t>SEI Interconnect Products Kft.</a:t>
            </a:r>
            <a:endParaRPr lang="ja-JP" altLang="en-US" dirty="0"/>
          </a:p>
        </p:txBody>
      </p:sp>
      <p:sp>
        <p:nvSpPr>
          <p:cNvPr id="3" name="Szöveg helye 2">
            <a:extLst>
              <a:ext uri="{FF2B5EF4-FFF2-40B4-BE49-F238E27FC236}">
                <a16:creationId xmlns:a16="http://schemas.microsoft.com/office/drawing/2014/main" id="{4D2C2DA2-895D-474F-BA8F-60CC7D6F829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478219" y="6305765"/>
            <a:ext cx="5253405" cy="267563"/>
          </a:xfrm>
        </p:spPr>
        <p:txBody>
          <a:bodyPr>
            <a:normAutofit lnSpcReduction="10000"/>
          </a:bodyPr>
          <a:lstStyle/>
          <a:p>
            <a:r>
              <a:rPr lang="hu-HU" altLang="ja-JP" dirty="0"/>
              <a:t>2025. Augusztus</a:t>
            </a:r>
          </a:p>
        </p:txBody>
      </p:sp>
      <p:sp>
        <p:nvSpPr>
          <p:cNvPr id="4" name="Szövegdoboz 3">
            <a:extLst>
              <a:ext uri="{FF2B5EF4-FFF2-40B4-BE49-F238E27FC236}">
                <a16:creationId xmlns:a16="http://schemas.microsoft.com/office/drawing/2014/main" id="{C331919A-DF01-D987-FB2D-8BB9FC0CE86C}"/>
              </a:ext>
            </a:extLst>
          </p:cNvPr>
          <p:cNvSpPr txBox="1"/>
          <p:nvPr/>
        </p:nvSpPr>
        <p:spPr>
          <a:xfrm>
            <a:off x="1770021" y="2598003"/>
            <a:ext cx="8044071" cy="9387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hu-HU" altLang="ja-JP" sz="5500" dirty="0">
                <a:latin typeface="+mn-ea"/>
              </a:rPr>
              <a:t>FFC gyártási mutatók </a:t>
            </a:r>
          </a:p>
        </p:txBody>
      </p:sp>
    </p:spTree>
    <p:extLst>
      <p:ext uri="{BB962C8B-B14F-4D97-AF65-F5344CB8AC3E}">
        <p14:creationId xmlns:p14="http://schemas.microsoft.com/office/powerpoint/2010/main" val="41011632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452"/>
    </mc:Choice>
    <mc:Fallback xmlns="">
      <p:transition spd="slow" advTm="4452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Diagram 8">
            <a:extLst>
              <a:ext uri="{FF2B5EF4-FFF2-40B4-BE49-F238E27FC236}">
                <a16:creationId xmlns:a16="http://schemas.microsoft.com/office/drawing/2014/main" id="{2D43F282-2318-7870-4D10-431ECFCD1BE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0384702"/>
              </p:ext>
            </p:extLst>
          </p:nvPr>
        </p:nvGraphicFramePr>
        <p:xfrm>
          <a:off x="6095996" y="757634"/>
          <a:ext cx="5880337" cy="55938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F37B92CD-C6A1-E98C-784E-6B1D136F773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86561091"/>
              </p:ext>
            </p:extLst>
          </p:nvPr>
        </p:nvGraphicFramePr>
        <p:xfrm>
          <a:off x="215660" y="757634"/>
          <a:ext cx="5880337" cy="55938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3" name="Kép 2">
            <a:extLst>
              <a:ext uri="{FF2B5EF4-FFF2-40B4-BE49-F238E27FC236}">
                <a16:creationId xmlns:a16="http://schemas.microsoft.com/office/drawing/2014/main" id="{0282AFD8-921F-6785-2C7E-1D34E5B5429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54248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FCACAF8E-2501-91FB-71FD-3F5A6534813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6"/>
          <a:stretch>
            <a:fillRect/>
          </a:stretch>
        </p:blipFill>
        <p:spPr>
          <a:xfrm>
            <a:off x="0" y="6351481"/>
            <a:ext cx="12192000" cy="506519"/>
          </a:xfrm>
          <a:prstGeom prst="rect">
            <a:avLst/>
          </a:prstGeom>
        </p:spPr>
      </p:pic>
      <p:sp>
        <p:nvSpPr>
          <p:cNvPr id="7" name="Szövegdoboz 6">
            <a:extLst>
              <a:ext uri="{FF2B5EF4-FFF2-40B4-BE49-F238E27FC236}">
                <a16:creationId xmlns:a16="http://schemas.microsoft.com/office/drawing/2014/main" id="{D62954B4-FC7D-29F8-45BA-72F2A5FDC541}"/>
              </a:ext>
            </a:extLst>
          </p:cNvPr>
          <p:cNvSpPr txBox="1"/>
          <p:nvPr/>
        </p:nvSpPr>
        <p:spPr>
          <a:xfrm>
            <a:off x="5288806" y="724619"/>
            <a:ext cx="104503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hu-HU" sz="1100" dirty="0">
                <a:solidFill>
                  <a:srgbClr val="000000"/>
                </a:solidFill>
              </a:rPr>
              <a:t>Kumulált / </a:t>
            </a:r>
            <a:r>
              <a:rPr kumimoji="1" lang="hu-HU" sz="1100" dirty="0" err="1">
                <a:solidFill>
                  <a:srgbClr val="000000"/>
                </a:solidFill>
              </a:rPr>
              <a:t>Cumulative</a:t>
            </a:r>
            <a:endParaRPr kumimoji="1" lang="hu-HU" sz="1100" dirty="0">
              <a:solidFill>
                <a:srgbClr val="000000"/>
              </a:solidFill>
            </a:endParaRPr>
          </a:p>
        </p:txBody>
      </p:sp>
      <p:sp>
        <p:nvSpPr>
          <p:cNvPr id="6" name="Szövegdoboz 5">
            <a:extLst>
              <a:ext uri="{FF2B5EF4-FFF2-40B4-BE49-F238E27FC236}">
                <a16:creationId xmlns:a16="http://schemas.microsoft.com/office/drawing/2014/main" id="{860A42A2-8CA5-50AC-8317-4C97E28A4A5C}"/>
              </a:ext>
            </a:extLst>
          </p:cNvPr>
          <p:cNvSpPr txBox="1"/>
          <p:nvPr/>
        </p:nvSpPr>
        <p:spPr>
          <a:xfrm>
            <a:off x="2160571" y="4604264"/>
            <a:ext cx="1755168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500" dirty="0"/>
              <a:t>Tervezett leállás / Planned </a:t>
            </a:r>
            <a:r>
              <a:rPr lang="hu-HU" sz="1400" dirty="0" err="1"/>
              <a:t>shutdown</a:t>
            </a:r>
            <a:r>
              <a:rPr lang="hu-HU" sz="1500" dirty="0"/>
              <a:t> </a:t>
            </a:r>
          </a:p>
        </p:txBody>
      </p:sp>
      <p:sp>
        <p:nvSpPr>
          <p:cNvPr id="10" name="Szövegdoboz 9">
            <a:extLst>
              <a:ext uri="{FF2B5EF4-FFF2-40B4-BE49-F238E27FC236}">
                <a16:creationId xmlns:a16="http://schemas.microsoft.com/office/drawing/2014/main" id="{E4695D60-436A-A6C6-F599-73437C34066A}"/>
              </a:ext>
            </a:extLst>
          </p:cNvPr>
          <p:cNvSpPr txBox="1"/>
          <p:nvPr/>
        </p:nvSpPr>
        <p:spPr>
          <a:xfrm>
            <a:off x="8276254" y="4804672"/>
            <a:ext cx="1755175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500" dirty="0"/>
              <a:t>Tervezett leállás / Planned </a:t>
            </a:r>
            <a:r>
              <a:rPr lang="hu-HU" sz="1400" dirty="0" err="1"/>
              <a:t>shutdown</a:t>
            </a:r>
            <a:r>
              <a:rPr lang="hu-HU" sz="1500" dirty="0"/>
              <a:t> 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2762180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13952"/>
    </mc:Choice>
    <mc:Fallback xmlns="">
      <p:transition spd="slow" advTm="13952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B6BAF91-5376-410D-A22A-B6F989C2C10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8164755"/>
              </p:ext>
            </p:extLst>
          </p:nvPr>
        </p:nvGraphicFramePr>
        <p:xfrm>
          <a:off x="172528" y="828137"/>
          <a:ext cx="11818189" cy="55233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pic>
        <p:nvPicPr>
          <p:cNvPr id="3" name="Kép 2">
            <a:extLst>
              <a:ext uri="{FF2B5EF4-FFF2-40B4-BE49-F238E27FC236}">
                <a16:creationId xmlns:a16="http://schemas.microsoft.com/office/drawing/2014/main" id="{0282AFD8-921F-6785-2C7E-1D34E5B5429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54248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FCACAF8E-2501-91FB-71FD-3F5A6534813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6351481"/>
            <a:ext cx="12192000" cy="506519"/>
          </a:xfrm>
          <a:prstGeom prst="rect">
            <a:avLst/>
          </a:prstGeom>
        </p:spPr>
      </p:pic>
      <p:sp>
        <p:nvSpPr>
          <p:cNvPr id="2" name="Szövegdoboz 1">
            <a:extLst>
              <a:ext uri="{FF2B5EF4-FFF2-40B4-BE49-F238E27FC236}">
                <a16:creationId xmlns:a16="http://schemas.microsoft.com/office/drawing/2014/main" id="{7D4143E6-AE3E-3F7F-053A-CEF7C67E3746}"/>
              </a:ext>
            </a:extLst>
          </p:cNvPr>
          <p:cNvSpPr txBox="1"/>
          <p:nvPr/>
        </p:nvSpPr>
        <p:spPr>
          <a:xfrm>
            <a:off x="4161454" y="4870579"/>
            <a:ext cx="327504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1500" dirty="0"/>
              <a:t>Tervezett leállás / </a:t>
            </a:r>
            <a:r>
              <a:rPr lang="hu-HU" sz="1500" dirty="0" err="1"/>
              <a:t>Planned</a:t>
            </a:r>
            <a:r>
              <a:rPr lang="hu-HU" sz="1500" dirty="0"/>
              <a:t> </a:t>
            </a:r>
            <a:r>
              <a:rPr lang="hu-HU" sz="1500" dirty="0" err="1"/>
              <a:t>shutdown</a:t>
            </a:r>
            <a:endParaRPr lang="hu-HU" sz="1500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194505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4226"/>
    </mc:Choice>
    <mc:Fallback xmlns="">
      <p:transition spd="slow" advTm="4226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>
            <a:extLst>
              <a:ext uri="{FF2B5EF4-FFF2-40B4-BE49-F238E27FC236}">
                <a16:creationId xmlns:a16="http://schemas.microsoft.com/office/drawing/2014/main" id="{FCACAF8E-2501-91FB-71FD-3F5A6534813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51481"/>
            <a:ext cx="12192000" cy="506519"/>
          </a:xfrm>
          <a:prstGeom prst="rect">
            <a:avLst/>
          </a:prstGeom>
        </p:spPr>
      </p:pic>
      <p:sp>
        <p:nvSpPr>
          <p:cNvPr id="7" name="Szövegdoboz 6">
            <a:extLst>
              <a:ext uri="{FF2B5EF4-FFF2-40B4-BE49-F238E27FC236}">
                <a16:creationId xmlns:a16="http://schemas.microsoft.com/office/drawing/2014/main" id="{D62954B4-FC7D-29F8-45BA-72F2A5FDC541}"/>
              </a:ext>
            </a:extLst>
          </p:cNvPr>
          <p:cNvSpPr txBox="1"/>
          <p:nvPr/>
        </p:nvSpPr>
        <p:spPr>
          <a:xfrm>
            <a:off x="5240976" y="654242"/>
            <a:ext cx="104503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hu-HU" sz="1100" dirty="0">
                <a:solidFill>
                  <a:srgbClr val="000000"/>
                </a:solidFill>
              </a:rPr>
              <a:t>Kumulált / </a:t>
            </a:r>
            <a:r>
              <a:rPr kumimoji="1" lang="hu-HU" sz="1100" dirty="0" err="1">
                <a:solidFill>
                  <a:srgbClr val="000000"/>
                </a:solidFill>
              </a:rPr>
              <a:t>Cumulative</a:t>
            </a:r>
            <a:endParaRPr kumimoji="1" lang="hu-HU" sz="1100" dirty="0">
              <a:solidFill>
                <a:srgbClr val="000000"/>
              </a:solidFill>
            </a:endParaRPr>
          </a:p>
        </p:txBody>
      </p:sp>
      <p:pic>
        <p:nvPicPr>
          <p:cNvPr id="3" name="Kép 2">
            <a:extLst>
              <a:ext uri="{FF2B5EF4-FFF2-40B4-BE49-F238E27FC236}">
                <a16:creationId xmlns:a16="http://schemas.microsoft.com/office/drawing/2014/main" id="{0282AFD8-921F-6785-2C7E-1D34E5B5429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92000" cy="654248"/>
          </a:xfrm>
          <a:prstGeom prst="rect">
            <a:avLst/>
          </a:prstGeom>
        </p:spPr>
      </p:pic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463A2A17-74D3-46BB-A8EB-7F83369134B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345242393"/>
              </p:ext>
            </p:extLst>
          </p:nvPr>
        </p:nvGraphicFramePr>
        <p:xfrm>
          <a:off x="284672" y="654241"/>
          <a:ext cx="5719313" cy="580694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BA4FA0DA-544F-A9D8-972F-D6D8138FAD76}"/>
              </a:ext>
              <a:ext uri="{147F2762-F138-4A5C-976F-8EAC2B608ADB}">
                <a16:predDERef xmlns:a16="http://schemas.microsoft.com/office/drawing/2014/main" pred="{463A2A17-74D3-46BB-A8EB-7F83369134B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474252230"/>
              </p:ext>
            </p:extLst>
          </p:nvPr>
        </p:nvGraphicFramePr>
        <p:xfrm>
          <a:off x="6003984" y="654243"/>
          <a:ext cx="5903344" cy="580694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97890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60"/>
    </mc:Choice>
    <mc:Fallback xmlns="">
      <p:transition spd="slow" advTm="6760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0282AFD8-921F-6785-2C7E-1D34E5B5429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54248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FCACAF8E-2501-91FB-71FD-3F5A6534813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51481"/>
            <a:ext cx="12192000" cy="506519"/>
          </a:xfrm>
          <a:prstGeom prst="rect">
            <a:avLst/>
          </a:prstGeom>
        </p:spPr>
      </p:pic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369E39D3-A47F-4805-9C39-1AE2F40AD596}"/>
              </a:ext>
              <a:ext uri="{147F2762-F138-4A5C-976F-8EAC2B608ADB}">
                <a16:predDERef xmlns:a16="http://schemas.microsoft.com/office/drawing/2014/main" pred="{BA4FA0DA-544F-A9D8-972F-D6D8138FAD7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92270612"/>
              </p:ext>
            </p:extLst>
          </p:nvPr>
        </p:nvGraphicFramePr>
        <p:xfrm>
          <a:off x="172527" y="715993"/>
          <a:ext cx="11740551" cy="571931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783521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15"/>
    </mc:Choice>
    <mc:Fallback xmlns="">
      <p:transition spd="slow" advTm="7615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>
            <a:extLst>
              <a:ext uri="{FF2B5EF4-FFF2-40B4-BE49-F238E27FC236}">
                <a16:creationId xmlns:a16="http://schemas.microsoft.com/office/drawing/2014/main" id="{FCACAF8E-2501-91FB-71FD-3F5A6534813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51481"/>
            <a:ext cx="12192000" cy="506519"/>
          </a:xfrm>
          <a:prstGeom prst="rect">
            <a:avLst/>
          </a:prstGeom>
        </p:spPr>
      </p:pic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AA368C88-8D2A-458B-BA05-6F0EDE5DF7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88229782"/>
              </p:ext>
            </p:extLst>
          </p:nvPr>
        </p:nvGraphicFramePr>
        <p:xfrm>
          <a:off x="86769" y="654240"/>
          <a:ext cx="5727434" cy="576380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pic>
        <p:nvPicPr>
          <p:cNvPr id="3" name="Kép 2">
            <a:extLst>
              <a:ext uri="{FF2B5EF4-FFF2-40B4-BE49-F238E27FC236}">
                <a16:creationId xmlns:a16="http://schemas.microsoft.com/office/drawing/2014/main" id="{0282AFD8-921F-6785-2C7E-1D34E5B5429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5"/>
          <a:stretch>
            <a:fillRect/>
          </a:stretch>
        </p:blipFill>
        <p:spPr>
          <a:xfrm>
            <a:off x="0" y="0"/>
            <a:ext cx="12192000" cy="654248"/>
          </a:xfrm>
          <a:prstGeom prst="rect">
            <a:avLst/>
          </a:prstGeom>
        </p:spPr>
      </p:pic>
      <p:sp>
        <p:nvSpPr>
          <p:cNvPr id="7" name="Szövegdoboz 6">
            <a:extLst>
              <a:ext uri="{FF2B5EF4-FFF2-40B4-BE49-F238E27FC236}">
                <a16:creationId xmlns:a16="http://schemas.microsoft.com/office/drawing/2014/main" id="{D62954B4-FC7D-29F8-45BA-72F2A5FDC541}"/>
              </a:ext>
            </a:extLst>
          </p:cNvPr>
          <p:cNvSpPr txBox="1"/>
          <p:nvPr/>
        </p:nvSpPr>
        <p:spPr>
          <a:xfrm>
            <a:off x="5050970" y="654245"/>
            <a:ext cx="104503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hu-HU" sz="1100" dirty="0">
                <a:solidFill>
                  <a:srgbClr val="000000"/>
                </a:solidFill>
              </a:rPr>
              <a:t>Kumulált / </a:t>
            </a:r>
            <a:r>
              <a:rPr kumimoji="1" lang="hu-HU" sz="1100" dirty="0" err="1">
                <a:solidFill>
                  <a:srgbClr val="000000"/>
                </a:solidFill>
              </a:rPr>
              <a:t>Cumulative</a:t>
            </a:r>
            <a:endParaRPr kumimoji="1" lang="hu-HU" sz="1100" dirty="0">
              <a:solidFill>
                <a:srgbClr val="000000"/>
              </a:solidFill>
            </a:endParaRP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F147E891-405B-3EAD-684A-5A00C4BBFBD7}"/>
              </a:ext>
              <a:ext uri="{147F2762-F138-4A5C-976F-8EAC2B608ADB}">
                <a16:predDERef xmlns:a16="http://schemas.microsoft.com/office/drawing/2014/main" pred="{AA368C88-8D2A-458B-BA05-6F0EDE5DF75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2274544"/>
              </p:ext>
            </p:extLst>
          </p:nvPr>
        </p:nvGraphicFramePr>
        <p:xfrm>
          <a:off x="5814203" y="654247"/>
          <a:ext cx="6098875" cy="57638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30738993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726"/>
    </mc:Choice>
    <mc:Fallback xmlns="">
      <p:transition spd="slow" advTm="6726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0282AFD8-921F-6785-2C7E-1D34E5B5429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54248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FCACAF8E-2501-91FB-71FD-3F5A6534813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51481"/>
            <a:ext cx="12192000" cy="506519"/>
          </a:xfrm>
          <a:prstGeom prst="rect">
            <a:avLst/>
          </a:prstGeom>
        </p:spPr>
      </p:pic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969F808A-27A6-41E1-A246-AD898429EEE1}"/>
              </a:ext>
              <a:ext uri="{147F2762-F138-4A5C-976F-8EAC2B608ADB}">
                <a16:predDERef xmlns:a16="http://schemas.microsoft.com/office/drawing/2014/main" pred="{F147E891-405B-3EAD-684A-5A00C4BBFB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933400459"/>
              </p:ext>
            </p:extLst>
          </p:nvPr>
        </p:nvGraphicFramePr>
        <p:xfrm>
          <a:off x="189782" y="733246"/>
          <a:ext cx="11533516" cy="57451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502833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527"/>
    </mc:Choice>
    <mc:Fallback xmlns="">
      <p:transition spd="slow" advTm="7527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0282AFD8-921F-6785-2C7E-1D34E5B5429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54248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FCACAF8E-2501-91FB-71FD-3F5A6534813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51481"/>
            <a:ext cx="12192000" cy="506519"/>
          </a:xfrm>
          <a:prstGeom prst="rect">
            <a:avLst/>
          </a:prstGeom>
        </p:spPr>
      </p:pic>
      <p:sp>
        <p:nvSpPr>
          <p:cNvPr id="7" name="Szövegdoboz 6">
            <a:extLst>
              <a:ext uri="{FF2B5EF4-FFF2-40B4-BE49-F238E27FC236}">
                <a16:creationId xmlns:a16="http://schemas.microsoft.com/office/drawing/2014/main" id="{D62954B4-FC7D-29F8-45BA-72F2A5FDC541}"/>
              </a:ext>
            </a:extLst>
          </p:cNvPr>
          <p:cNvSpPr txBox="1"/>
          <p:nvPr/>
        </p:nvSpPr>
        <p:spPr>
          <a:xfrm>
            <a:off x="5294809" y="654248"/>
            <a:ext cx="104503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hu-HU" sz="1100" dirty="0">
                <a:solidFill>
                  <a:srgbClr val="000000"/>
                </a:solidFill>
              </a:rPr>
              <a:t>Kumulált / </a:t>
            </a:r>
            <a:r>
              <a:rPr kumimoji="1" lang="hu-HU" sz="1100" dirty="0" err="1">
                <a:solidFill>
                  <a:srgbClr val="000000"/>
                </a:solidFill>
              </a:rPr>
              <a:t>Cumulative</a:t>
            </a:r>
            <a:endParaRPr kumimoji="1" lang="hu-HU" sz="1100" dirty="0">
              <a:solidFill>
                <a:srgbClr val="000000"/>
              </a:solidFill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C7CE665E-B951-4E5C-843F-3F2B5596F19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69949425"/>
              </p:ext>
            </p:extLst>
          </p:nvPr>
        </p:nvGraphicFramePr>
        <p:xfrm>
          <a:off x="241868" y="672860"/>
          <a:ext cx="5854132" cy="57624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55946596-A88C-0C58-374C-C310395FD8C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355065098"/>
              </p:ext>
            </p:extLst>
          </p:nvPr>
        </p:nvGraphicFramePr>
        <p:xfrm>
          <a:off x="6096000" y="672860"/>
          <a:ext cx="5854132" cy="57624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6499111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670"/>
    </mc:Choice>
    <mc:Fallback xmlns="">
      <p:transition spd="slow" advTm="6670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0282AFD8-921F-6785-2C7E-1D34E5B5429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54248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FCACAF8E-2501-91FB-71FD-3F5A6534813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51481"/>
            <a:ext cx="12192000" cy="506519"/>
          </a:xfrm>
          <a:prstGeom prst="rect">
            <a:avLst/>
          </a:prstGeom>
        </p:spPr>
      </p:pic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B001C633-77FA-48B3-A28A-E25E3AABE7A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963674788"/>
              </p:ext>
            </p:extLst>
          </p:nvPr>
        </p:nvGraphicFramePr>
        <p:xfrm>
          <a:off x="172528" y="733245"/>
          <a:ext cx="11723298" cy="574519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15822131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85"/>
    </mc:Choice>
    <mc:Fallback xmlns="">
      <p:transition spd="slow" advTm="7385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D27666-2A75-7559-EA0E-D277702691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6EAD28FA-CED5-A029-D9E1-76C784D5629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54248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186B01BA-8EE9-D44F-2D11-01329273641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51481"/>
            <a:ext cx="12192000" cy="506519"/>
          </a:xfrm>
          <a:prstGeom prst="rect">
            <a:avLst/>
          </a:prstGeom>
        </p:spPr>
      </p:pic>
      <p:sp>
        <p:nvSpPr>
          <p:cNvPr id="7" name="Szövegdoboz 6">
            <a:extLst>
              <a:ext uri="{FF2B5EF4-FFF2-40B4-BE49-F238E27FC236}">
                <a16:creationId xmlns:a16="http://schemas.microsoft.com/office/drawing/2014/main" id="{5209979D-0EC1-3004-EDBB-15587C21C1C8}"/>
              </a:ext>
            </a:extLst>
          </p:cNvPr>
          <p:cNvSpPr txBox="1"/>
          <p:nvPr/>
        </p:nvSpPr>
        <p:spPr>
          <a:xfrm>
            <a:off x="5294809" y="654248"/>
            <a:ext cx="104503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hu-HU" sz="1100" dirty="0">
                <a:solidFill>
                  <a:srgbClr val="000000"/>
                </a:solidFill>
              </a:rPr>
              <a:t>Kumulált / </a:t>
            </a:r>
            <a:r>
              <a:rPr kumimoji="1" lang="hu-HU" sz="1100" dirty="0" err="1">
                <a:solidFill>
                  <a:srgbClr val="000000"/>
                </a:solidFill>
              </a:rPr>
              <a:t>Cumulative</a:t>
            </a:r>
            <a:endParaRPr kumimoji="1" lang="hu-HU" sz="1100" dirty="0">
              <a:solidFill>
                <a:srgbClr val="000000"/>
              </a:solidFill>
            </a:endParaRP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FE9FBC31-E465-4F56-AE06-535EBD78F74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066246715"/>
              </p:ext>
            </p:extLst>
          </p:nvPr>
        </p:nvGraphicFramePr>
        <p:xfrm>
          <a:off x="207035" y="654245"/>
          <a:ext cx="5779696" cy="56865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6" name="Diagram 5">
            <a:extLst>
              <a:ext uri="{FF2B5EF4-FFF2-40B4-BE49-F238E27FC236}">
                <a16:creationId xmlns:a16="http://schemas.microsoft.com/office/drawing/2014/main" id="{5F6B6285-2A9D-40D8-9165-F99EFFECEE05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62563926"/>
              </p:ext>
            </p:extLst>
          </p:nvPr>
        </p:nvGraphicFramePr>
        <p:xfrm>
          <a:off x="5986731" y="664967"/>
          <a:ext cx="5998234" cy="56865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4144212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6670"/>
    </mc:Choice>
    <mc:Fallback xmlns="">
      <p:transition spd="slow" advTm="6670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EB579E-23DB-224D-0812-162DC9414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1026081C-AE01-B0A7-5361-5E2A02C5FB3E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54248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122A78D5-2A5D-2AC3-36E2-9C231E0C7C9B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51481"/>
            <a:ext cx="12192000" cy="506519"/>
          </a:xfrm>
          <a:prstGeom prst="rect">
            <a:avLst/>
          </a:prstGeom>
        </p:spPr>
      </p:pic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C59E5586-3E34-4B8C-A2BC-DB18EBA5D54F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772193318"/>
              </p:ext>
            </p:extLst>
          </p:nvPr>
        </p:nvGraphicFramePr>
        <p:xfrm>
          <a:off x="267419" y="845389"/>
          <a:ext cx="11645660" cy="550609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custDataLst>
      <p:tags r:id="rId1"/>
    </p:custDataLst>
    <p:extLst>
      <p:ext uri="{BB962C8B-B14F-4D97-AF65-F5344CB8AC3E}">
        <p14:creationId xmlns:p14="http://schemas.microsoft.com/office/powerpoint/2010/main" val="26087829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385"/>
    </mc:Choice>
    <mc:Fallback xmlns="">
      <p:transition spd="slow" advTm="7385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0282AFD8-921F-6785-2C7E-1D34E5B5429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54248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FCACAF8E-2501-91FB-71FD-3F5A6534813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51481"/>
            <a:ext cx="12192000" cy="506519"/>
          </a:xfrm>
          <a:prstGeom prst="rect">
            <a:avLst/>
          </a:prstGeom>
        </p:spPr>
      </p:pic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B060A726-9BA2-460E-9669-78794B5367ED}"/>
              </a:ext>
              <a:ext uri="{147F2762-F138-4A5C-976F-8EAC2B608ADB}">
                <a16:predDERef xmlns:a16="http://schemas.microsoft.com/office/drawing/2014/main" pred="{BFA6B513-D85C-4562-8B2D-349C0E6174C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896638416"/>
              </p:ext>
            </p:extLst>
          </p:nvPr>
        </p:nvGraphicFramePr>
        <p:xfrm>
          <a:off x="155275" y="996329"/>
          <a:ext cx="5940725" cy="535512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7" name="Diagram 6">
            <a:extLst>
              <a:ext uri="{FF2B5EF4-FFF2-40B4-BE49-F238E27FC236}">
                <a16:creationId xmlns:a16="http://schemas.microsoft.com/office/drawing/2014/main" id="{794931B1-7FC8-4AFB-89DB-2A1991983D1D}"/>
              </a:ext>
              <a:ext uri="{147F2762-F138-4A5C-976F-8EAC2B608ADB}">
                <a16:predDERef xmlns:a16="http://schemas.microsoft.com/office/drawing/2014/main" pred="{B060A726-9BA2-460E-9669-78794B5367ED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939786419"/>
              </p:ext>
            </p:extLst>
          </p:nvPr>
        </p:nvGraphicFramePr>
        <p:xfrm>
          <a:off x="6095999" y="996305"/>
          <a:ext cx="5940725" cy="535512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</p:spTree>
    <p:extLst>
      <p:ext uri="{BB962C8B-B14F-4D97-AF65-F5344CB8AC3E}">
        <p14:creationId xmlns:p14="http://schemas.microsoft.com/office/powerpoint/2010/main" val="19724288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713"/>
    </mc:Choice>
    <mc:Fallback xmlns="">
      <p:transition spd="slow" advTm="21713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0282AFD8-921F-6785-2C7E-1D34E5B5429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54248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FCACAF8E-2501-91FB-71FD-3F5A6534813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51481"/>
            <a:ext cx="12192000" cy="506519"/>
          </a:xfrm>
          <a:prstGeom prst="rect">
            <a:avLst/>
          </a:prstGeom>
        </p:spPr>
      </p:pic>
      <p:sp>
        <p:nvSpPr>
          <p:cNvPr id="7" name="Szövegdoboz 6">
            <a:extLst>
              <a:ext uri="{FF2B5EF4-FFF2-40B4-BE49-F238E27FC236}">
                <a16:creationId xmlns:a16="http://schemas.microsoft.com/office/drawing/2014/main" id="{D62954B4-FC7D-29F8-45BA-72F2A5FDC541}"/>
              </a:ext>
            </a:extLst>
          </p:cNvPr>
          <p:cNvSpPr txBox="1"/>
          <p:nvPr/>
        </p:nvSpPr>
        <p:spPr>
          <a:xfrm>
            <a:off x="11146970" y="654248"/>
            <a:ext cx="104503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hu-HU" sz="1100" dirty="0">
                <a:solidFill>
                  <a:srgbClr val="000000"/>
                </a:solidFill>
              </a:rPr>
              <a:t>Kumulált / </a:t>
            </a:r>
            <a:r>
              <a:rPr kumimoji="1" lang="hu-HU" sz="1100" dirty="0" err="1">
                <a:solidFill>
                  <a:srgbClr val="000000"/>
                </a:solidFill>
              </a:rPr>
              <a:t>Cumulative</a:t>
            </a:r>
            <a:endParaRPr kumimoji="1" lang="hu-HU" sz="1100" dirty="0">
              <a:solidFill>
                <a:srgbClr val="000000"/>
              </a:solidFill>
            </a:endParaRPr>
          </a:p>
        </p:txBody>
      </p:sp>
      <p:graphicFrame>
        <p:nvGraphicFramePr>
          <p:cNvPr id="2" name="グラフ 1">
            <a:extLst>
              <a:ext uri="{FF2B5EF4-FFF2-40B4-BE49-F238E27FC236}">
                <a16:creationId xmlns:a16="http://schemas.microsoft.com/office/drawing/2014/main" id="{00000000-0008-0000-0E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829029710"/>
              </p:ext>
            </p:extLst>
          </p:nvPr>
        </p:nvGraphicFramePr>
        <p:xfrm>
          <a:off x="189782" y="560717"/>
          <a:ext cx="11800936" cy="586596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7432687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21167"/>
    </mc:Choice>
    <mc:Fallback xmlns="">
      <p:transition spd="slow" advTm="21167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グラフ 1">
            <a:extLst>
              <a:ext uri="{FF2B5EF4-FFF2-40B4-BE49-F238E27FC236}">
                <a16:creationId xmlns:a16="http://schemas.microsoft.com/office/drawing/2014/main" id="{00000000-0008-0000-0F00-000002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94824610"/>
              </p:ext>
            </p:extLst>
          </p:nvPr>
        </p:nvGraphicFramePr>
        <p:xfrm>
          <a:off x="60385" y="873204"/>
          <a:ext cx="11794992" cy="547827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3" name="Kép 2">
            <a:extLst>
              <a:ext uri="{FF2B5EF4-FFF2-40B4-BE49-F238E27FC236}">
                <a16:creationId xmlns:a16="http://schemas.microsoft.com/office/drawing/2014/main" id="{0282AFD8-921F-6785-2C7E-1D34E5B5429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54248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FCACAF8E-2501-91FB-71FD-3F5A6534813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351481"/>
            <a:ext cx="12192000" cy="506519"/>
          </a:xfrm>
          <a:prstGeom prst="rect">
            <a:avLst/>
          </a:prstGeom>
        </p:spPr>
      </p:pic>
      <p:sp>
        <p:nvSpPr>
          <p:cNvPr id="8" name="Szövegdoboz 8">
            <a:extLst>
              <a:ext uri="{FF2B5EF4-FFF2-40B4-BE49-F238E27FC236}">
                <a16:creationId xmlns:a16="http://schemas.microsoft.com/office/drawing/2014/main" id="{279F2CD1-0144-34BB-DF39-F680A9370749}"/>
              </a:ext>
            </a:extLst>
          </p:cNvPr>
          <p:cNvSpPr txBox="1"/>
          <p:nvPr/>
        </p:nvSpPr>
        <p:spPr>
          <a:xfrm>
            <a:off x="336623" y="873203"/>
            <a:ext cx="838200" cy="4309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kumimoji="1" lang="hu-HU" sz="1100" dirty="0">
                <a:solidFill>
                  <a:srgbClr val="000000"/>
                </a:solidFill>
              </a:rPr>
              <a:t>Kumulált / </a:t>
            </a:r>
            <a:r>
              <a:rPr kumimoji="1" lang="hu-HU" sz="1100" dirty="0" err="1">
                <a:solidFill>
                  <a:srgbClr val="000000"/>
                </a:solidFill>
              </a:rPr>
              <a:t>Cumulative</a:t>
            </a:r>
            <a:endParaRPr kumimoji="1" lang="hu-HU" sz="1100" dirty="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36661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229"/>
    </mc:Choice>
    <mc:Fallback xmlns="">
      <p:transition spd="slow" advTm="7229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0282AFD8-921F-6785-2C7E-1D34E5B5429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54248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FCACAF8E-2501-91FB-71FD-3F5A6534813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51481"/>
            <a:ext cx="12192000" cy="506519"/>
          </a:xfrm>
          <a:prstGeom prst="rect">
            <a:avLst/>
          </a:prstGeom>
        </p:spPr>
      </p:pic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BFA6B513-D85C-4562-8B2D-349C0E6174C6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813750410"/>
              </p:ext>
            </p:extLst>
          </p:nvPr>
        </p:nvGraphicFramePr>
        <p:xfrm>
          <a:off x="375920" y="1066800"/>
          <a:ext cx="11419840" cy="52120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6717791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012"/>
    </mc:Choice>
    <mc:Fallback xmlns="">
      <p:transition spd="slow" advTm="7012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0282AFD8-921F-6785-2C7E-1D34E5B5429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54248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FCACAF8E-2501-91FB-71FD-3F5A6534813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51481"/>
            <a:ext cx="12192000" cy="506519"/>
          </a:xfrm>
          <a:prstGeom prst="rect">
            <a:avLst/>
          </a:prstGeom>
        </p:spPr>
      </p:pic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84776DC2-DC65-4880-ADB9-AC04BE2A406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33437395"/>
              </p:ext>
            </p:extLst>
          </p:nvPr>
        </p:nvGraphicFramePr>
        <p:xfrm>
          <a:off x="172528" y="654248"/>
          <a:ext cx="11731925" cy="563200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160387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193"/>
    </mc:Choice>
    <mc:Fallback xmlns="">
      <p:transition spd="slow" advTm="7193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Kép 2">
            <a:extLst>
              <a:ext uri="{FF2B5EF4-FFF2-40B4-BE49-F238E27FC236}">
                <a16:creationId xmlns:a16="http://schemas.microsoft.com/office/drawing/2014/main" id="{0282AFD8-921F-6785-2C7E-1D34E5B54293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54248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FCACAF8E-2501-91FB-71FD-3F5A65348131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351481"/>
            <a:ext cx="12192000" cy="506519"/>
          </a:xfrm>
          <a:prstGeom prst="rect">
            <a:avLst/>
          </a:prstGeom>
        </p:spPr>
      </p:pic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00000000-0008-0000-0F00-00000300000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655812962"/>
              </p:ext>
            </p:extLst>
          </p:nvPr>
        </p:nvGraphicFramePr>
        <p:xfrm>
          <a:off x="419879" y="678311"/>
          <a:ext cx="11371068" cy="545779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3320883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188"/>
    </mc:Choice>
    <mc:Fallback xmlns="">
      <p:transition spd="slow" advTm="7188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0.4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6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9.6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7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7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3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3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3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8.3"/>
</p:tagLst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8096</TotalTime>
  <Words>240</Words>
  <Application>Microsoft Office PowerPoint</Application>
  <PresentationFormat>Szélesvásznú</PresentationFormat>
  <Paragraphs>41</Paragraphs>
  <Slides>17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3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17</vt:i4>
      </vt:variant>
    </vt:vector>
  </HeadingPairs>
  <TitlesOfParts>
    <vt:vector size="21" baseType="lpstr">
      <vt:lpstr>Arial</vt:lpstr>
      <vt:lpstr>Calibri</vt:lpstr>
      <vt:lpstr>Calibri Light</vt:lpstr>
      <vt:lpstr>Office-téma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  <vt:lpstr>PowerPoint-bemutató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PowerPoint-bemutató</dc:title>
  <dc:creator>Himpli Attila</dc:creator>
  <cp:lastModifiedBy>Muzsnyai László</cp:lastModifiedBy>
  <cp:revision>939</cp:revision>
  <cp:lastPrinted>2024-10-01T06:59:28Z</cp:lastPrinted>
  <dcterms:created xsi:type="dcterms:W3CDTF">2022-12-15T10:39:18Z</dcterms:created>
  <dcterms:modified xsi:type="dcterms:W3CDTF">2025-08-04T07:14:07Z</dcterms:modified>
</cp:coreProperties>
</file>